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Chronic Kidney Disease (CKD)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Learning-Based Clinical Diagnosis System</a:t>
            </a:r>
          </a:p>
          <a:p/>
          <a:p>
            <a:r>
              <a:t>A Comparative Study Using Patients Clinical Records</a:t>
            </a:r>
          </a:p>
          <a:p/>
          <a:p>
            <a:r>
              <a:t>Authors: Hassan et al. (2023)</a:t>
            </a:r>
          </a:p>
          <a:p/>
          <a:p>
            <a:r>
              <a:t>Human-Centric Intelligent Systems 3:92–104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A Comparative Study, Prediction and Development of Chronic Kidney Disease Using Machine Learning on Patients Clinical Records</a:t>
            </a:r>
          </a:p>
          <a:p/>
          <a:p>
            <a:pPr>
              <a:defRPr sz="2000" b="1"/>
            </a:pPr>
            <a:r>
              <a:t>Authors:</a:t>
            </a:r>
          </a:p>
          <a:p>
            <a:pPr>
              <a:defRPr sz="1800" b="0"/>
            </a:pPr>
            <a:r>
              <a:t>Md. Mehedi Hassan</a:t>
            </a:r>
          </a:p>
          <a:p>
            <a:pPr>
              <a:defRPr sz="1800" b="0"/>
            </a:pPr>
            <a:r>
              <a:t>Md. Mahedi Hassan</a:t>
            </a:r>
          </a:p>
          <a:p>
            <a:pPr>
              <a:defRPr sz="1800" b="0"/>
            </a:pPr>
            <a:r>
              <a:t>Swarnali Mollick</a:t>
            </a:r>
          </a:p>
          <a:p>
            <a:pPr>
              <a:defRPr sz="1800" b="0"/>
            </a:pPr>
            <a:r>
              <a:t>Md. Asif Rakib Khan</a:t>
            </a:r>
          </a:p>
          <a:p>
            <a:pPr>
              <a:defRPr sz="1800" b="0"/>
            </a:pPr>
            <a:r>
              <a:t>Farhana Yasmin</a:t>
            </a:r>
          </a:p>
          <a:p>
            <a:pPr>
              <a:defRPr sz="1800" b="0"/>
            </a:pPr>
            <a:r>
              <a:t>Anupam Kumar Bairagi</a:t>
            </a:r>
          </a:p>
          <a:p>
            <a:pPr>
              <a:defRPr sz="1800" b="0"/>
            </a:pPr>
            <a:r>
              <a:t>M. Raihan</a:t>
            </a:r>
          </a:p>
          <a:p>
            <a:pPr>
              <a:defRPr sz="1800" b="0"/>
            </a:pPr>
            <a:r>
              <a:t>Shibbir Ahmed Arif</a:t>
            </a:r>
          </a:p>
          <a:p>
            <a:pPr>
              <a:defRPr sz="1800" b="0"/>
            </a:pPr>
            <a:r>
              <a:t>Amrina Rahman</a:t>
            </a:r>
          </a:p>
          <a:p/>
          <a:p>
            <a:pPr>
              <a:defRPr sz="2000" b="1"/>
            </a:pPr>
            <a:r>
              <a:t>Published:** Human-Centric Intelligent Systems (2023) 3:92–104</a:t>
            </a:r>
          </a:p>
          <a:p>
            <a:pPr>
              <a:defRPr sz="2000" b="1"/>
            </a:pPr>
            <a:r>
              <a:t>DOI:** https://doi.org/10.1007/s44230-023-00017-3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Chronic Kidney Disease (CKD)** has become a major global health problem, dubbed the "silent assassin" due to its delayed signs.</a:t>
            </a:r>
          </a:p>
          <a:p/>
          <a:p>
            <a:pPr>
              <a:defRPr sz="2000" b="1"/>
            </a:pPr>
            <a:r>
              <a:t>Key Challenges:</a:t>
            </a:r>
          </a:p>
          <a:p>
            <a:pPr>
              <a:defRPr sz="1800" b="0"/>
            </a:pPr>
            <a:r>
              <a:t>Early identification is critical but difficult</a:t>
            </a:r>
          </a:p>
          <a:p>
            <a:pPr>
              <a:defRPr sz="1800" b="0"/>
            </a:pPr>
            <a:r>
              <a:t>Dataset limitations complicate diagnosis</a:t>
            </a:r>
          </a:p>
          <a:p>
            <a:pPr>
              <a:defRPr sz="1800" b="0"/>
            </a:pPr>
            <a:r>
              <a:t>Many patients unaware of their condition (90%)</a:t>
            </a:r>
          </a:p>
          <a:p/>
          <a:p>
            <a:pPr>
              <a:defRPr sz="2000" b="1"/>
            </a:pPr>
            <a:r>
              <a:t>Our Novel Approach:</a:t>
            </a:r>
          </a:p>
          <a:p>
            <a:pPr>
              <a:defRPr sz="1800" b="0"/>
            </a:pPr>
            <a:r>
              <a:t>Extracted best features from clinical dataset</a:t>
            </a:r>
          </a:p>
          <a:p>
            <a:pPr>
              <a:defRPr sz="1800" b="0"/>
            </a:pPr>
            <a:r>
              <a:t>Applied XGBoost feature selection algorithm</a:t>
            </a:r>
          </a:p>
          <a:p>
            <a:pPr>
              <a:defRPr sz="1800" b="0"/>
            </a:pPr>
            <a:r>
              <a:t>Evaluated multiple ML models for optimal diagnosis</a:t>
            </a:r>
          </a:p>
          <a:p/>
          <a:p>
            <a:pPr>
              <a:defRPr sz="2000" b="1"/>
            </a:pPr>
            <a:r>
              <a:t>Goal:** Develop accurate prediction models for early CKD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The Problem:</a:t>
            </a:r>
          </a:p>
          <a:p>
            <a:pPr>
              <a:defRPr sz="1800" b="0"/>
            </a:pPr>
            <a:r>
              <a:t>CKD affects ~37 million adults in the US (15% of adult population)</a:t>
            </a:r>
          </a:p>
          <a:p>
            <a:pPr>
              <a:defRPr sz="1800" b="0"/>
            </a:pPr>
            <a:r>
              <a:t>Silent killer with no obvious early signs</a:t>
            </a:r>
          </a:p>
          <a:p>
            <a:pPr>
              <a:defRPr sz="1800" b="0"/>
            </a:pPr>
            <a:r>
              <a:t>Leads to excess fluid and waste retention in blood</a:t>
            </a:r>
          </a:p>
          <a:p>
            <a:pPr>
              <a:defRPr sz="1800" b="0"/>
            </a:pPr>
            <a:r>
              <a:t>Major risk factor for heart disease and other complications</a:t>
            </a:r>
          </a:p>
          <a:p/>
          <a:p>
            <a:pPr>
              <a:defRPr sz="2000" b="1"/>
            </a:pPr>
            <a:r>
              <a:t>Causes:</a:t>
            </a:r>
          </a:p>
          <a:p>
            <a:pPr>
              <a:defRPr sz="1800" b="0"/>
            </a:pPr>
            <a:r>
              <a:t>Type 1/2 diabetes</a:t>
            </a:r>
          </a:p>
          <a:p>
            <a:pPr>
              <a:defRPr sz="1800" b="0"/>
            </a:pPr>
            <a:r>
              <a:t>High blood pressure</a:t>
            </a:r>
          </a:p>
          <a:p>
            <a:pPr>
              <a:defRPr sz="1800" b="0"/>
            </a:pPr>
            <a:r>
              <a:t>Glomerulonephritis</a:t>
            </a:r>
          </a:p>
          <a:p>
            <a:pPr>
              <a:defRPr sz="1800" b="0"/>
            </a:pPr>
            <a:r>
              <a:t>Prolonged urinary tract blockage</a:t>
            </a:r>
          </a:p>
          <a:p>
            <a:pPr>
              <a:defRPr sz="1800" b="0"/>
            </a:pPr>
            <a:r>
              <a:t>Recurrent kidney infections</a:t>
            </a:r>
          </a:p>
          <a:p/>
          <a:p>
            <a:pPr>
              <a:defRPr sz="2000" b="1"/>
            </a:pPr>
            <a:r>
              <a:t>Our Solution:** Machine learning-based early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Previous Work Highlights:</a:t>
            </a:r>
          </a:p>
          <a:p/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/>
          <a:p>
            <a:pPr>
              <a:defRPr sz="2000" b="1"/>
            </a:pPr>
            <a:r>
              <a:t>Gap:** Need for comprehensive feature engineering and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/>
            </a:pPr>
            <a:r>
              <a:t>1. Data Collection (UCI ML Repository)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2. Data Preprocessing</a:t>
            </a:r>
          </a:p>
          <a:p>
            <a:pPr>
              <a:defRPr sz="1800" b="0"/>
            </a:pPr>
            <a:r>
              <a:t>Missing value imputation (PMM)</a:t>
            </a:r>
          </a:p>
          <a:p>
            <a:pPr>
              <a:defRPr sz="1800" b="0"/>
            </a:pPr>
            <a:r>
              <a:t>Feature encoding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3. K-Means Clustering (k=3)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4. Feature Selection (XGBoost + SHAP)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5. Dataset Splitting (80/20)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6. Model Training &amp; Evaluation</a:t>
            </a:r>
          </a:p>
          <a:p>
            <a:pPr>
              <a:defRPr sz="1800" b="0"/>
            </a:pPr>
            <a:r>
              <a:t>NN, RF, SVM, RT, BTM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7. Results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Source:** UCI Machine Learning Repository - Chronic Kidney Disease Dataset</a:t>
            </a:r>
          </a:p>
          <a:p/>
          <a:p>
            <a:pPr>
              <a:defRPr sz="2000" b="1"/>
            </a:pPr>
            <a:r>
              <a:t>Statistics:</a:t>
            </a:r>
          </a:p>
          <a:p>
            <a:pPr>
              <a:defRPr sz="1800" b="0"/>
            </a:pPr>
            <a:r>
              <a:t>Total Records: 400 patients</a:t>
            </a:r>
          </a:p>
          <a:p>
            <a:pPr>
              <a:defRPr sz="1800" b="0"/>
            </a:pPr>
            <a:r>
              <a:t>Total Features: 25 clinical characteristics</a:t>
            </a:r>
          </a:p>
          <a:p>
            <a:pPr>
              <a:defRPr sz="1800" b="0"/>
            </a:pPr>
            <a:r>
              <a:t>Target: CKD / Non-CKD classification</a:t>
            </a:r>
          </a:p>
          <a:p/>
          <a:p>
            <a:pPr>
              <a:defRPr sz="2000" b="1"/>
            </a:pPr>
            <a:r>
              <a:t>Feature Categories:</a:t>
            </a:r>
          </a:p>
          <a:p/>
          <a:p>
            <a:pPr>
              <a:defRPr sz="2000" b="1"/>
            </a:pPr>
            <a:r>
              <a:t>Continuous Variables:</a:t>
            </a:r>
          </a:p>
          <a:p>
            <a:pPr>
              <a:defRPr sz="1800" b="0"/>
            </a:pPr>
            <a:r>
              <a:t>Age, Blood Pressure, BGR, Blood Urea, Serum Creatinine</a:t>
            </a:r>
          </a:p>
          <a:p>
            <a:pPr>
              <a:defRPr sz="1800" b="0"/>
            </a:pPr>
            <a:r>
              <a:t>Sodium, Potassium, Hemoglobin, PCV, WBC, RBC</a:t>
            </a:r>
          </a:p>
          <a:p/>
          <a:p>
            <a:pPr>
              <a:defRPr sz="2000" b="1"/>
            </a:pPr>
            <a:r>
              <a:t>Binary Variables:</a:t>
            </a:r>
          </a:p>
          <a:p>
            <a:pPr>
              <a:defRPr sz="1800" b="0"/>
            </a:pPr>
            <a:r>
              <a:t>Specific Gravity, Albumin, Sugar</a:t>
            </a:r>
          </a:p>
          <a:p>
            <a:pPr>
              <a:defRPr sz="1800" b="0"/>
            </a:pPr>
            <a:r>
              <a:t>RBC, Pus Cell, Pus Cell Clumps, Bacteria</a:t>
            </a:r>
          </a:p>
          <a:p>
            <a:pPr>
              <a:defRPr sz="1800" b="0"/>
            </a:pPr>
            <a:r>
              <a:t>Hypertension, Diabetes, CAD, Appetite, Pedal Edema, Anemia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Missing Value Imputation - Predictive Mean Matching (PMM):</a:t>
            </a:r>
          </a:p>
          <a:p/>
          <a:p>
            <a:pPr>
              <a:defRPr sz="2000" b="1"/>
            </a:pPr>
            <a:r>
              <a:t>Why PMM?</a:t>
            </a:r>
          </a:p>
          <a:p>
            <a:pPr>
              <a:defRPr sz="1800" b="0"/>
            </a:pPr>
            <a:r>
              <a:t>Ideal for quantitative non-normal variables</a:t>
            </a:r>
          </a:p>
          <a:p>
            <a:pPr>
              <a:defRPr sz="1800" b="0"/>
            </a:pPr>
            <a:r>
              <a:t>Produces more plausible results than other methods</a:t>
            </a:r>
          </a:p>
          <a:p>
            <a:pPr>
              <a:defRPr sz="1800" b="0"/>
            </a:pPr>
            <a:r>
              <a:t>Better represents diverse data patterns</a:t>
            </a:r>
          </a:p>
          <a:p/>
          <a:p>
            <a:pPr>
              <a:defRPr sz="2000" b="1"/>
            </a:pPr>
            <a:r>
              <a:t>Missing Data Analysis (Fig. 2):</a:t>
            </a:r>
          </a:p>
          <a:p>
            <a:pPr>
              <a:defRPr sz="1800" b="0"/>
            </a:pPr>
            <a:r>
              <a:t>Highest: WBC count (26.50%)</a:t>
            </a:r>
          </a:p>
          <a:p>
            <a:pPr>
              <a:defRPr sz="1800" b="0"/>
            </a:pPr>
            <a:r>
              <a:t>Second: Sodium (16.75%)</a:t>
            </a:r>
          </a:p>
          <a:p>
            <a:pPr>
              <a:defRPr sz="1800" b="0"/>
            </a:pPr>
            <a:r>
              <a:t>Third: Pus Cell (13.25%)</a:t>
            </a:r>
          </a:p>
          <a:p>
            <a:pPr>
              <a:defRPr sz="1800" b="0"/>
            </a:pPr>
            <a:r>
              <a:t>Lowest: Pedal Edema (0.25%)</a:t>
            </a:r>
          </a:p>
          <a:p/>
          <a:p>
            <a:pPr>
              <a:defRPr sz="2000" b="1"/>
            </a:pPr>
            <a:r>
              <a:t>Processing Steps:</a:t>
            </a:r>
          </a:p>
          <a:p>
            <a:pPr>
              <a:defRPr sz="1800" b="0"/>
            </a:pPr>
            <a:r>
              <a:t>1. Strip whitespace from categorical variables</a:t>
            </a:r>
          </a:p>
          <a:p>
            <a:pPr>
              <a:defRPr sz="1800" b="0"/>
            </a:pPr>
            <a:r>
              <a:t>2. Replace '?' and 'None' with NaN</a:t>
            </a:r>
          </a:p>
          <a:p>
            <a:pPr>
              <a:defRPr sz="1800" b="0"/>
            </a:pPr>
            <a:r>
              <a:t>3. Encode categorical features (LabelEncoder)</a:t>
            </a:r>
          </a:p>
          <a:p>
            <a:pPr>
              <a:defRPr sz="1800" b="0"/>
            </a:pPr>
            <a:r>
              <a:t>4. Impute using IterativeImputer (BayesianRidge)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K-Means Clustering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Objective:** Identify distinct patient subgroups</a:t>
            </a:r>
          </a:p>
          <a:p/>
          <a:p>
            <a:pPr>
              <a:defRPr sz="2000" b="1"/>
            </a:pPr>
            <a:r>
              <a:t>Method:</a:t>
            </a:r>
          </a:p>
          <a:p>
            <a:pPr>
              <a:defRPr sz="1800" b="0"/>
            </a:pPr>
            <a:r>
              <a:t>StandardScaler normalization</a:t>
            </a:r>
          </a:p>
          <a:p>
            <a:pPr>
              <a:defRPr sz="1800" b="0"/>
            </a:pPr>
            <a:r>
              <a:t>Elbow method for optimal k</a:t>
            </a:r>
          </a:p>
          <a:p>
            <a:pPr>
              <a:defRPr sz="1800" b="0"/>
            </a:pPr>
            <a:r>
              <a:t>K-means clustering</a:t>
            </a:r>
          </a:p>
          <a:p/>
          <a:p>
            <a:pPr>
              <a:defRPr sz="2000" b="1"/>
            </a:pPr>
            <a:r>
              <a:t>Results:</a:t>
            </a:r>
          </a:p>
          <a:p>
            <a:pPr>
              <a:defRPr sz="1800" b="0"/>
            </a:pPr>
            <a:r>
              <a:t>Optimal k = 3 clusters</a:t>
            </a:r>
          </a:p>
          <a:p>
            <a:pPr>
              <a:defRPr sz="1800" b="0"/>
            </a:pPr>
            <a:r>
              <a:t>Clear separation in feature space</a:t>
            </a:r>
          </a:p>
          <a:p>
            <a:pPr>
              <a:defRPr sz="1800" b="0"/>
            </a:pPr>
            <a:r>
              <a:t>Validated with dendrogram analysis</a:t>
            </a:r>
          </a:p>
          <a:p/>
          <a:p>
            <a:pPr>
              <a:defRPr sz="2000" b="1"/>
            </a:pPr>
            <a:r>
              <a:t>Visualizations:</a:t>
            </a:r>
          </a:p>
          <a:p>
            <a:pPr>
              <a:defRPr sz="1800" b="0"/>
            </a:pPr>
            <a:r>
              <a:t>(a) Elbow Method - WCSS vs k</a:t>
            </a:r>
          </a:p>
          <a:p>
            <a:pPr>
              <a:defRPr sz="1800" b="0"/>
            </a:pPr>
            <a:r>
              <a:t>(b) K-means Clustering (k=3)</a:t>
            </a:r>
          </a:p>
          <a:p>
            <a:pPr>
              <a:defRPr sz="1800" b="0"/>
            </a:pPr>
            <a:r>
              <a:t>(c) Hierarchical Dendrogram</a:t>
            </a:r>
          </a:p>
          <a:p/>
          <a:p>
            <a:pPr>
              <a:defRPr sz="2000" b="1"/>
            </a:pPr>
            <a:r>
              <a:t>Insight:** Natural patient groupings exist in clinical feature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Feature Selection -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Why XGBoost?</a:t>
            </a:r>
          </a:p>
          <a:p>
            <a:pPr>
              <a:defRPr sz="1800" b="0"/>
            </a:pPr>
            <a:r>
              <a:t>Gradient boosting ensemble method</a:t>
            </a:r>
          </a:p>
          <a:p>
            <a:pPr>
              <a:defRPr sz="1800" b="0"/>
            </a:pPr>
            <a:r>
              <a:t>Handles feature importance natively</a:t>
            </a:r>
          </a:p>
          <a:p>
            <a:pPr>
              <a:defRPr sz="1800" b="0"/>
            </a:pPr>
            <a:r>
              <a:t>Reduces overfitting</a:t>
            </a:r>
          </a:p>
          <a:p>
            <a:pPr>
              <a:defRPr sz="1800" b="0"/>
            </a:pPr>
            <a:r>
              <a:t>Improves model accuracy</a:t>
            </a:r>
          </a:p>
          <a:p/>
          <a:p>
            <a:pPr>
              <a:defRPr sz="2000" b="1"/>
            </a:pPr>
            <a:r>
              <a:t>Top 7 Features Selected (by Gain):</a:t>
            </a:r>
          </a:p>
          <a:p>
            <a:pPr>
              <a:defRPr sz="1800" b="0"/>
            </a:pPr>
            <a:r>
              <a:t>1. Hemoglobin (hemo) - Most important</a:t>
            </a:r>
          </a:p>
          <a:p>
            <a:pPr>
              <a:defRPr sz="1800" b="0"/>
            </a:pPr>
            <a:r>
              <a:t>2. Serum Creatinine (sc)</a:t>
            </a:r>
          </a:p>
          <a:p>
            <a:pPr>
              <a:defRPr sz="1800" b="0"/>
            </a:pPr>
            <a:r>
              <a:t>3. Packed Cell Volume (pcv)</a:t>
            </a:r>
          </a:p>
          <a:p>
            <a:pPr>
              <a:defRPr sz="1800" b="0"/>
            </a:pPr>
            <a:r>
              <a:t>4. Albumin (al)</a:t>
            </a:r>
          </a:p>
          <a:p>
            <a:pPr>
              <a:defRPr sz="1800" b="0"/>
            </a:pPr>
            <a:r>
              <a:t>5. Pedal Edema (pe)</a:t>
            </a:r>
          </a:p>
          <a:p>
            <a:pPr>
              <a:defRPr sz="1800" b="0"/>
            </a:pPr>
            <a:r>
              <a:t>6. Blood Pressure (bp)</a:t>
            </a:r>
          </a:p>
          <a:p>
            <a:pPr>
              <a:defRPr sz="1800" b="0"/>
            </a:pPr>
            <a:r>
              <a:t>7. Specific Gravity (sg)</a:t>
            </a:r>
          </a:p>
          <a:p/>
          <a:p>
            <a:pPr>
              <a:defRPr sz="2000" b="1"/>
            </a:pPr>
            <a:r>
              <a:t>SHAP Analysis:</a:t>
            </a:r>
          </a:p>
          <a:p>
            <a:pPr>
              <a:defRPr sz="1800" b="0"/>
            </a:pPr>
            <a:r>
              <a:t>Quantifies feature impact on predictions</a:t>
            </a:r>
          </a:p>
          <a:p>
            <a:pPr>
              <a:defRPr sz="1800" b="0"/>
            </a:pPr>
            <a:r>
              <a:t>Shows direction and magnitude of influence</a:t>
            </a:r>
          </a:p>
          <a:p>
            <a:pPr>
              <a:defRPr sz="1800" b="0"/>
            </a:pPr>
            <a:r>
              <a:t>Validates clinical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SHAP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Key Findings from SHAP Analysis:</a:t>
            </a:r>
          </a:p>
          <a:p/>
          <a:p>
            <a:pPr>
              <a:defRPr sz="2000" b="1"/>
            </a:pPr>
            <a:r>
              <a:t>Hemoglobin (hemo):</a:t>
            </a:r>
          </a:p>
          <a:p>
            <a:pPr>
              <a:defRPr sz="1800" b="0"/>
            </a:pPr>
            <a:r>
              <a:t>Highest overall impact on CKD prediction</a:t>
            </a:r>
          </a:p>
          <a:p>
            <a:pPr>
              <a:defRPr sz="1800" b="0"/>
            </a:pPr>
            <a:r>
              <a:t>Lower values strongly indicate CKD</a:t>
            </a:r>
          </a:p>
          <a:p>
            <a:pPr>
              <a:defRPr sz="1800" b="0"/>
            </a:pPr>
            <a:r>
              <a:t>Clinically validated biomarker</a:t>
            </a:r>
          </a:p>
          <a:p/>
          <a:p>
            <a:pPr>
              <a:defRPr sz="2000" b="1"/>
            </a:pPr>
            <a:r>
              <a:t>Serum Creatinine (sc):</a:t>
            </a:r>
          </a:p>
          <a:p>
            <a:pPr>
              <a:defRPr sz="1800" b="0"/>
            </a:pPr>
            <a:r>
              <a:t>Second most important</a:t>
            </a:r>
          </a:p>
          <a:p>
            <a:pPr>
              <a:defRPr sz="1800" b="0"/>
            </a:pPr>
            <a:r>
              <a:t>Direct kidney function indicator</a:t>
            </a:r>
          </a:p>
          <a:p>
            <a:pPr>
              <a:defRPr sz="1800" b="0"/>
            </a:pPr>
            <a:r>
              <a:t>Strong positive SHAP values for CKD</a:t>
            </a:r>
          </a:p>
          <a:p/>
          <a:p>
            <a:pPr>
              <a:defRPr sz="2000" b="1"/>
            </a:pPr>
            <a:r>
              <a:t>Pattern:</a:t>
            </a:r>
          </a:p>
          <a:p>
            <a:pPr>
              <a:defRPr sz="1800" b="0"/>
            </a:pPr>
            <a:r>
              <a:t>Features align with known clinical markers</a:t>
            </a:r>
          </a:p>
          <a:p>
            <a:pPr>
              <a:defRPr sz="1800" b="0"/>
            </a:pPr>
            <a:r>
              <a:t>Model captures medically relevant relationships</a:t>
            </a:r>
          </a:p>
          <a:p>
            <a:pPr>
              <a:defRPr sz="1800" b="0"/>
            </a:pPr>
            <a:r>
              <a:t>Supports model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Dataset Splitting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Training Set:** 80% (320 patients)</a:t>
            </a:r>
          </a:p>
          <a:p>
            <a:pPr>
              <a:defRPr sz="2000" b="1"/>
            </a:pPr>
            <a:r>
              <a:t>Testing Set:** 20% (80 patients)</a:t>
            </a:r>
          </a:p>
          <a:p/>
          <a:p>
            <a:pPr>
              <a:defRPr sz="2000" b="1"/>
            </a:pPr>
            <a:r>
              <a:t>Two Datasets Created:</a:t>
            </a:r>
          </a:p>
          <a:p/>
          <a:p>
            <a:pPr>
              <a:defRPr sz="2000" b="1"/>
            </a:pPr>
            <a:r>
              <a:t>1. Full Dataset (25 features):</a:t>
            </a:r>
          </a:p>
          <a:p>
            <a:pPr>
              <a:defRPr sz="1800" b="0"/>
            </a:pPr>
            <a:r>
              <a:t>All original clinical features</a:t>
            </a:r>
          </a:p>
          <a:p>
            <a:pPr>
              <a:defRPr sz="1800" b="0"/>
            </a:pPr>
            <a:r>
              <a:t>Comprehensive information</a:t>
            </a:r>
          </a:p>
          <a:p/>
          <a:p>
            <a:pPr>
              <a:defRPr sz="2000" b="1"/>
            </a:pPr>
            <a:r>
              <a:t>2. XGBoost Dataset (7 features):</a:t>
            </a:r>
          </a:p>
          <a:p>
            <a:pPr>
              <a:defRPr sz="1800" b="0"/>
            </a:pPr>
            <a:r>
              <a:t>Selected top features only</a:t>
            </a:r>
          </a:p>
          <a:p>
            <a:pPr>
              <a:defRPr sz="1800" b="0"/>
            </a:pPr>
            <a:r>
              <a:t>Reduced dimensionality</a:t>
            </a:r>
          </a:p>
          <a:p>
            <a:pPr>
              <a:defRPr sz="1800" b="0"/>
            </a:pPr>
            <a:r>
              <a:t>Improved efficiency</a:t>
            </a:r>
          </a:p>
          <a:p/>
          <a:p>
            <a:pPr>
              <a:defRPr sz="2000" b="1"/>
            </a:pPr>
            <a:r>
              <a:t>Preprocessing:</a:t>
            </a:r>
          </a:p>
          <a:p>
            <a:pPr>
              <a:defRPr sz="1800" b="0"/>
            </a:pPr>
            <a:r>
              <a:t>StandardScaler for SVM and Neural Network</a:t>
            </a:r>
          </a:p>
          <a:p>
            <a:pPr>
              <a:defRPr sz="1800" b="0"/>
            </a:pPr>
            <a:r>
              <a:t>Stratified split (maintains class balance)</a:t>
            </a:r>
          </a:p>
          <a:p>
            <a:pPr>
              <a:defRPr sz="1800" b="0"/>
            </a:pPr>
            <a:r>
              <a:t>Random state = 42 (reproducibility)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Five Algorithms Evaluated:</a:t>
            </a:r>
          </a:p>
          <a:p/>
          <a:p>
            <a:pPr>
              <a:defRPr sz="2000" b="1"/>
            </a:pPr>
            <a:r>
              <a:t>1. Neural Network (NN)</a:t>
            </a:r>
          </a:p>
          <a:p>
            <a:pPr>
              <a:defRPr sz="1800" b="0"/>
            </a:pPr>
            <a:r>
              <a:t>Architecture: 64-32 hidden layers</a:t>
            </a:r>
          </a:p>
          <a:p>
            <a:pPr>
              <a:defRPr sz="1800" b="0"/>
            </a:pPr>
            <a:r>
              <a:t>Early stopping enabled</a:t>
            </a:r>
          </a:p>
          <a:p>
            <a:pPr>
              <a:defRPr sz="1800" b="0"/>
            </a:pPr>
            <a:r>
              <a:t>Scaled input features</a:t>
            </a:r>
          </a:p>
          <a:p/>
          <a:p>
            <a:pPr>
              <a:defRPr sz="2000" b="1"/>
            </a:pPr>
            <a:r>
              <a:t>2. Random Forest (RF)</a:t>
            </a:r>
          </a:p>
          <a:p>
            <a:pPr>
              <a:defRPr sz="1800" b="0"/>
            </a:pPr>
            <a:r>
              <a:t>100 estimators</a:t>
            </a:r>
          </a:p>
          <a:p>
            <a:pPr>
              <a:defRPr sz="1800" b="0"/>
            </a:pPr>
            <a:r>
              <a:t>Ensemble of decision trees</a:t>
            </a:r>
          </a:p>
          <a:p>
            <a:pPr>
              <a:defRPr sz="1800" b="0"/>
            </a:pPr>
            <a:r>
              <a:t>Handles non-linearity well</a:t>
            </a:r>
          </a:p>
          <a:p/>
          <a:p>
            <a:pPr>
              <a:defRPr sz="2000" b="1"/>
            </a:pPr>
            <a:r>
              <a:t>3. Support Vector Machine (SVM)</a:t>
            </a:r>
          </a:p>
          <a:p>
            <a:pPr>
              <a:defRPr sz="1800" b="0"/>
            </a:pPr>
            <a:r>
              <a:t>RBF kernel</a:t>
            </a:r>
          </a:p>
          <a:p>
            <a:pPr>
              <a:defRPr sz="1800" b="0"/>
            </a:pPr>
            <a:r>
              <a:t>C=10, gamma='scale'</a:t>
            </a:r>
          </a:p>
          <a:p>
            <a:pPr>
              <a:defRPr sz="1800" b="0"/>
            </a:pPr>
            <a:r>
              <a:t>Effective in high dimensions</a:t>
            </a:r>
          </a:p>
          <a:p/>
          <a:p>
            <a:pPr>
              <a:defRPr sz="2000" b="1"/>
            </a:pPr>
            <a:r>
              <a:t>4. Random Tree (RT)</a:t>
            </a:r>
          </a:p>
          <a:p>
            <a:pPr>
              <a:defRPr sz="1800" b="0"/>
            </a:pPr>
            <a:r>
              <a:t>ExtraTreesClassifier</a:t>
            </a:r>
          </a:p>
          <a:p>
            <a:pPr>
              <a:defRPr sz="1800" b="0"/>
            </a:pPr>
            <a:r>
              <a:t>Extremely randomized trees</a:t>
            </a:r>
          </a:p>
          <a:p>
            <a:pPr>
              <a:defRPr sz="1800" b="0"/>
            </a:pPr>
            <a:r>
              <a:t>Reduces overfitting</a:t>
            </a:r>
          </a:p>
          <a:p/>
          <a:p>
            <a:pPr>
              <a:defRPr sz="2000" b="1"/>
            </a:pPr>
            <a:r>
              <a:t>5. Bagging Tree Model (BTM)</a:t>
            </a:r>
          </a:p>
          <a:p>
            <a:pPr>
              <a:defRPr sz="1800" b="0"/>
            </a:pPr>
            <a:r>
              <a:t>DecisionTree base estimator</a:t>
            </a:r>
          </a:p>
          <a:p>
            <a:pPr>
              <a:defRPr sz="1800" b="0"/>
            </a:pPr>
            <a:r>
              <a:t>100 estimators</a:t>
            </a:r>
          </a:p>
          <a:p>
            <a:pPr>
              <a:defRPr sz="1800" b="0"/>
            </a:pPr>
            <a:r>
              <a:t>Variance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Evaluation Criteria:</a:t>
            </a:r>
          </a:p>
          <a:p/>
          <a:p>
            <a:pPr>
              <a:defRPr sz="2000" b="1"/>
            </a:pPr>
            <a:r>
              <a:t>Accuracy (Acc):** Overall correctness</a:t>
            </a:r>
          </a:p>
          <a:p>
            <a:pPr>
              <a:defRPr sz="2000" b="1"/>
            </a:pPr>
            <a:r>
              <a:t>Sensitivity (Sen):** True Positive Rate (Recall)</a:t>
            </a:r>
          </a:p>
          <a:p>
            <a:pPr>
              <a:defRPr sz="2000" b="1"/>
            </a:pPr>
            <a:r>
              <a:t>Specificity (Spe):** True Negative Rate</a:t>
            </a:r>
          </a:p>
          <a:p>
            <a:pPr>
              <a:defRPr sz="2000" b="1"/>
            </a:pPr>
            <a:r>
              <a:t>Kappa (κ):** Agreement beyond chance</a:t>
            </a:r>
          </a:p>
          <a:p/>
          <a:p>
            <a:pPr>
              <a:defRPr sz="2000" b="1"/>
            </a:pPr>
            <a:r>
              <a:t>Formula:</a:t>
            </a:r>
          </a:p>
          <a:p>
            <a:pPr>
              <a:defRPr sz="1800" b="0"/>
            </a:pPr>
            <a:r>
              <a:t>Accuracy = (TP + TN) / Total</a:t>
            </a:r>
          </a:p>
          <a:p>
            <a:pPr>
              <a:defRPr sz="1800" b="0"/>
            </a:pPr>
            <a:r>
              <a:t>Sensitivity = TP / (TP + FN)</a:t>
            </a:r>
          </a:p>
          <a:p>
            <a:pPr>
              <a:defRPr sz="1800" b="0"/>
            </a:pPr>
            <a:r>
              <a:t>Specificity = TN / (TN + FP)</a:t>
            </a:r>
          </a:p>
          <a:p>
            <a:pPr>
              <a:defRPr sz="1800" b="0"/>
            </a:pPr>
            <a:r>
              <a:t>Cohen's Kappa = (Observed - Expected) / (1 - Expected)</a:t>
            </a:r>
          </a:p>
          <a:p/>
          <a:p>
            <a:pPr>
              <a:defRPr sz="2000" b="1"/>
            </a:pPr>
            <a:r>
              <a:t>All metrics reported as percentages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Results Summary - Table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Model Performance Comparison (Acc%, Sen%, Spe%, Kappa%)</a:t>
            </a:r>
          </a:p>
          <a:p/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/>
          <a:p>
            <a:pPr>
              <a:defRPr sz="2000" b="1"/>
            </a:pPr>
            <a:r>
              <a:t>Key Finding: SVM achieves 100% accuracy on XGBoost-selected features!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Visual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Bar Charts (Figs. 6-9):</a:t>
            </a:r>
          </a:p>
          <a:p>
            <a:pPr>
              <a:defRPr sz="1800" b="0"/>
            </a:pPr>
            <a:r>
              <a:t>Accuracy comparison across models</a:t>
            </a:r>
          </a:p>
          <a:p>
            <a:pPr>
              <a:defRPr sz="1800" b="0"/>
            </a:pPr>
            <a:r>
              <a:t>Sensitivity (Recall) analysis</a:t>
            </a:r>
          </a:p>
          <a:p>
            <a:pPr>
              <a:defRPr sz="1800" b="0"/>
            </a:pPr>
            <a:r>
              <a:t>Specificity evaluation</a:t>
            </a:r>
          </a:p>
          <a:p>
            <a:pPr>
              <a:defRPr sz="1800" b="0"/>
            </a:pPr>
            <a:r>
              <a:t>Cohen's Kappa scores</a:t>
            </a:r>
          </a:p>
          <a:p/>
          <a:p>
            <a:pPr>
              <a:defRPr sz="2000" b="1"/>
            </a:pPr>
            <a:r>
              <a:t>Observations:</a:t>
            </a:r>
          </a:p>
          <a:p>
            <a:pPr>
              <a:defRPr sz="1800" b="0"/>
            </a:pPr>
            <a:r>
              <a:t>SVM consistently performs best</a:t>
            </a:r>
          </a:p>
          <a:p>
            <a:pPr>
              <a:defRPr sz="1800" b="0"/>
            </a:pPr>
            <a:r>
              <a:t>XGBoost features maintain or improve performance</a:t>
            </a:r>
          </a:p>
          <a:p>
            <a:pPr>
              <a:defRPr sz="1800" b="0"/>
            </a:pPr>
            <a:r>
              <a:t>All models exceed 96% accuracy</a:t>
            </a:r>
          </a:p>
          <a:p>
            <a:pPr>
              <a:defRPr sz="1800" b="0"/>
            </a:pPr>
            <a:r>
              <a:t>Feature selection doesn't degrade performance</a:t>
            </a:r>
          </a:p>
          <a:p/>
          <a:p>
            <a:pPr>
              <a:defRPr sz="2000" b="1"/>
            </a:pPr>
            <a:r>
              <a:t>25 Features vs 7 Features:</a:t>
            </a:r>
          </a:p>
          <a:p>
            <a:pPr>
              <a:defRPr sz="1800" b="0"/>
            </a:pPr>
            <a:r>
              <a:t>Comparable results with 72% fewer features</a:t>
            </a:r>
          </a:p>
          <a:p>
            <a:pPr>
              <a:defRPr sz="1800" b="0"/>
            </a:pPr>
            <a:r>
              <a:t>Improved computational efficiency</a:t>
            </a:r>
          </a:p>
          <a:p>
            <a:pPr>
              <a:defRPr sz="1800" b="0"/>
            </a:pPr>
            <a:r>
              <a:t>Better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Confusion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All Models - Performance Breakdown:</a:t>
            </a:r>
          </a:p>
          <a:p/>
          <a:p>
            <a:pPr>
              <a:defRPr sz="2000" b="1"/>
            </a:pPr>
            <a:r>
              <a:t>Best Performers:</a:t>
            </a:r>
          </a:p>
          <a:p>
            <a:pPr>
              <a:defRPr sz="1800" b="0"/>
            </a:pPr>
            <a:r>
              <a:t>SVM (XGB): 100% accuracy - perfect classification</a:t>
            </a:r>
          </a:p>
          <a:p>
            <a:pPr>
              <a:defRPr sz="1800" b="0"/>
            </a:pPr>
            <a:r>
              <a:t>RF (Full/XGB): 98.75% - excellent</a:t>
            </a:r>
          </a:p>
          <a:p>
            <a:pPr>
              <a:defRPr sz="1800" b="0"/>
            </a:pPr>
            <a:r>
              <a:t>NN (Full/XGB): 97.50% - very good</a:t>
            </a:r>
          </a:p>
          <a:p/>
          <a:p>
            <a:pPr>
              <a:defRPr sz="2000" b="1"/>
            </a:pPr>
            <a:r>
              <a:t>Pattern:</a:t>
            </a:r>
          </a:p>
          <a:p>
            <a:pPr>
              <a:defRPr sz="1800" b="0"/>
            </a:pPr>
            <a:r>
              <a:t>High true positive rates (CKD detection)</a:t>
            </a:r>
          </a:p>
          <a:p>
            <a:pPr>
              <a:defRPr sz="1800" b="0"/>
            </a:pPr>
            <a:r>
              <a:t>High true negative rates (healthy identification)</a:t>
            </a:r>
          </a:p>
          <a:p>
            <a:pPr>
              <a:defRPr sz="1800" b="0"/>
            </a:pPr>
            <a:r>
              <a:t>Minimal false positives/negatives</a:t>
            </a:r>
          </a:p>
          <a:p/>
          <a:p>
            <a:pPr>
              <a:defRPr sz="2000" b="1"/>
            </a:pPr>
            <a:r>
              <a:t>Clinical Implication:</a:t>
            </a:r>
          </a:p>
          <a:p>
            <a:pPr>
              <a:defRPr sz="1800" b="0"/>
            </a:pPr>
            <a:r>
              <a:t>Reliable for both screening and diagnosis</a:t>
            </a:r>
          </a:p>
          <a:p>
            <a:pPr>
              <a:defRPr sz="1800" b="0"/>
            </a:pPr>
            <a:r>
              <a:t>Low risk of missed diagnoses</a:t>
            </a:r>
          </a:p>
          <a:p>
            <a:pPr>
              <a:defRPr sz="1800" b="0"/>
            </a:pPr>
            <a:r>
              <a:t>Low false alarm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Comparison with Existing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Table 4: Our Results vs Literature</a:t>
            </a:r>
          </a:p>
          <a:p/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/>
          <a:p>
            <a:pPr>
              <a:defRPr sz="2000" b="1"/>
            </a:pPr>
            <a:r>
              <a:t>Key Insights:</a:t>
            </a:r>
          </a:p>
          <a:p>
            <a:pPr>
              <a:defRPr sz="1800" b="0"/>
            </a:pPr>
            <a:r>
              <a:t>Our results competitive with state-of-the-art</a:t>
            </a:r>
          </a:p>
          <a:p>
            <a:pPr>
              <a:defRPr sz="1800" b="0"/>
            </a:pPr>
            <a:r>
              <a:t>SVM matches paper's best performance</a:t>
            </a:r>
          </a:p>
          <a:p>
            <a:pPr>
              <a:defRPr sz="1800" b="0"/>
            </a:pPr>
            <a:r>
              <a:t>Feature selection achieves 100% accuracy</a:t>
            </a:r>
          </a:p>
          <a:p>
            <a:pPr>
              <a:defRPr sz="1800" b="0"/>
            </a:pPr>
            <a:r>
              <a:t>Validates methodology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1. Feature Engineering Success:</a:t>
            </a:r>
          </a:p>
          <a:p>
            <a:pPr>
              <a:defRPr sz="1800" b="0"/>
            </a:pPr>
            <a:r>
              <a:t>XGBoost identified 7 critical features from 25</a:t>
            </a:r>
          </a:p>
          <a:p>
            <a:pPr>
              <a:defRPr sz="1800" b="0"/>
            </a:pPr>
            <a:r>
              <a:t>Hemoglobin most important predictor</a:t>
            </a:r>
          </a:p>
          <a:p>
            <a:pPr>
              <a:defRPr sz="1800" b="0"/>
            </a:pPr>
            <a:r>
              <a:t>SHAP values provide interpretability</a:t>
            </a:r>
          </a:p>
          <a:p/>
          <a:p>
            <a:pPr>
              <a:defRPr sz="2000" b="1"/>
            </a:pPr>
            <a:r>
              <a:t>2. Model Performance:</a:t>
            </a:r>
          </a:p>
          <a:p>
            <a:pPr>
              <a:defRPr sz="1800" b="0"/>
            </a:pPr>
            <a:r>
              <a:t>SVM: 100% accuracy (XGBoost features)</a:t>
            </a:r>
          </a:p>
          <a:p>
            <a:pPr>
              <a:defRPr sz="1800" b="0"/>
            </a:pPr>
            <a:r>
              <a:t>All models &gt;96% accuracy</a:t>
            </a:r>
          </a:p>
          <a:p>
            <a:pPr>
              <a:defRPr sz="1800" b="0"/>
            </a:pPr>
            <a:r>
              <a:t>Feature selection maintains performance</a:t>
            </a:r>
          </a:p>
          <a:p/>
          <a:p>
            <a:pPr>
              <a:defRPr sz="2000" b="1"/>
            </a:pPr>
            <a:r>
              <a:t>3. Clinical Relevance:</a:t>
            </a:r>
          </a:p>
          <a:p>
            <a:pPr>
              <a:defRPr sz="1800" b="0"/>
            </a:pPr>
            <a:r>
              <a:t>Top features align with medical knowledge</a:t>
            </a:r>
          </a:p>
          <a:p>
            <a:pPr>
              <a:defRPr sz="1800" b="0"/>
            </a:pPr>
            <a:r>
              <a:t>Model captures known CKD indicators</a:t>
            </a:r>
          </a:p>
          <a:p>
            <a:pPr>
              <a:defRPr sz="1800" b="0"/>
            </a:pPr>
            <a:r>
              <a:t>Interpretable for healthcare providers</a:t>
            </a:r>
          </a:p>
          <a:p/>
          <a:p>
            <a:pPr>
              <a:defRPr sz="2000" b="1"/>
            </a:pPr>
            <a:r>
              <a:t>4. Efficiency:</a:t>
            </a:r>
          </a:p>
          <a:p>
            <a:pPr>
              <a:defRPr sz="1800" b="0"/>
            </a:pPr>
            <a:r>
              <a:t>72% reduction in features</a:t>
            </a:r>
          </a:p>
          <a:p>
            <a:pPr>
              <a:defRPr sz="1800" b="0"/>
            </a:pPr>
            <a:r>
              <a:t>Faster computation</a:t>
            </a:r>
          </a:p>
          <a:p>
            <a:pPr>
              <a:defRPr sz="1800" b="0"/>
            </a:pPr>
            <a:r>
              <a:t>Easier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Paper Findings vs Our Results:</a:t>
            </a:r>
          </a:p>
          <a:p/>
          <a:p>
            <a:pPr>
              <a:defRPr sz="1800" b="0"/>
            </a:pPr>
            <a:r>
              <a:t>SVM achieves 100% accuracy on XGBoost-selected features</a:t>
            </a:r>
          </a:p>
          <a:p>
            <a:pPr>
              <a:defRPr sz="1800" b="0"/>
            </a:pPr>
            <a:r>
              <a:t>NN achieves ~97.5% accuracy on full 25-feature dataset</a:t>
            </a:r>
          </a:p>
          <a:p>
            <a:pPr>
              <a:defRPr sz="1800" b="0"/>
            </a:pPr>
            <a:r>
              <a:t>All models exceed 96% accuracy - robust performance</a:t>
            </a:r>
          </a:p>
          <a:p>
            <a:pPr>
              <a:defRPr sz="1800" b="0"/>
            </a:pPr>
            <a:r>
              <a:t>Feature selection validated - maintains/improves results</a:t>
            </a:r>
          </a:p>
          <a:p/>
          <a:p>
            <a:pPr>
              <a:defRPr sz="2000" b="1"/>
            </a:pPr>
            <a:r>
              <a:t>Clinical Impact:</a:t>
            </a:r>
          </a:p>
          <a:p>
            <a:pPr>
              <a:defRPr sz="1800" b="0"/>
            </a:pPr>
            <a:r>
              <a:t>Early detection enables timely intervention</a:t>
            </a:r>
          </a:p>
          <a:p>
            <a:pPr>
              <a:defRPr sz="1800" b="0"/>
            </a:pPr>
            <a:r>
              <a:t>Reduces progression to end-stage renal disease</a:t>
            </a:r>
          </a:p>
          <a:p>
            <a:pPr>
              <a:defRPr sz="1800" b="0"/>
            </a:pPr>
            <a:r>
              <a:t>Lowers healthcare costs</a:t>
            </a:r>
          </a:p>
          <a:p>
            <a:pPr>
              <a:defRPr sz="1800" b="0"/>
            </a:pPr>
            <a:r>
              <a:t>Improves patient outcomes</a:t>
            </a:r>
          </a:p>
          <a:p/>
          <a:p>
            <a:pPr>
              <a:defRPr sz="2000" b="1"/>
            </a:pPr>
            <a:r>
              <a:t>Future Work:</a:t>
            </a:r>
          </a:p>
          <a:p>
            <a:pPr>
              <a:defRPr sz="1800" b="0"/>
            </a:pPr>
            <a:r>
              <a:t>Real-time deployment in clinical settings</a:t>
            </a:r>
          </a:p>
          <a:p>
            <a:pPr>
              <a:defRPr sz="1800" b="0"/>
            </a:pPr>
            <a:r>
              <a:t>Integration with electronic health records</a:t>
            </a:r>
          </a:p>
          <a:p>
            <a:pPr>
              <a:defRPr sz="1800" b="0"/>
            </a:pPr>
            <a:r>
              <a:t>Multi-center validation studies</a:t>
            </a:r>
          </a:p>
          <a:p>
            <a:pPr>
              <a:defRPr sz="1800" b="0"/>
            </a:pPr>
            <a:r>
              <a:t>Deep learning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Tools &amp; Technologies:</a:t>
            </a:r>
          </a:p>
          <a:p/>
          <a:p>
            <a:pPr>
              <a:defRPr sz="2000" b="1"/>
            </a:pPr>
            <a:r>
              <a:t>Languages:** Python 3.x</a:t>
            </a:r>
          </a:p>
          <a:p/>
          <a:p>
            <a:pPr>
              <a:defRPr sz="2000" b="1"/>
            </a:pPr>
            <a:r>
              <a:t>Key Libraries:</a:t>
            </a:r>
          </a:p>
          <a:p>
            <a:pPr>
              <a:defRPr sz="1800" b="0"/>
            </a:pPr>
            <a:r>
              <a:t>pandas, numpy - Data manipulation</a:t>
            </a:r>
          </a:p>
          <a:p>
            <a:pPr>
              <a:defRPr sz="1800" b="0"/>
            </a:pPr>
            <a:r>
              <a:t>scikit-learn - ML algorithms &amp; preprocessing</a:t>
            </a:r>
          </a:p>
          <a:p>
            <a:pPr>
              <a:defRPr sz="1800" b="0"/>
            </a:pPr>
            <a:r>
              <a:t>xgboost - Feature selection &amp; modeling</a:t>
            </a:r>
          </a:p>
          <a:p>
            <a:pPr>
              <a:defRPr sz="1800" b="0"/>
            </a:pPr>
            <a:r>
              <a:t>shap - Feature importance analysis</a:t>
            </a:r>
          </a:p>
          <a:p>
            <a:pPr>
              <a:defRPr sz="1800" b="0"/>
            </a:pPr>
            <a:r>
              <a:t>matplotlib, seaborn - Visualization</a:t>
            </a:r>
          </a:p>
          <a:p/>
          <a:p>
            <a:pPr>
              <a:defRPr sz="2000" b="1"/>
            </a:pPr>
            <a:r>
              <a:t>Pipeline:</a:t>
            </a:r>
          </a:p>
          <a:p>
            <a:pPr>
              <a:defRPr sz="1800" b="0"/>
            </a:pPr>
            <a:r>
              <a:t>1. Data Loading → 2. Preprocessing → 3. Clustering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4. Feature Selection → 5. Train/Test Split</a:t>
            </a:r>
          </a:p>
          <a:p>
            <a:pPr>
              <a:defRPr sz="1800" b="0"/>
            </a:pPr>
            <a:r>
              <a:t>↓</a:t>
            </a:r>
          </a:p>
          <a:p>
            <a:pPr>
              <a:defRPr sz="1800" b="0"/>
            </a:pPr>
            <a:r>
              <a:t>6. Model Training → 7. Evaluation → 8. Visualization</a:t>
            </a:r>
          </a:p>
          <a:p/>
          <a:p>
            <a:pPr>
              <a:defRPr sz="2000" b="1"/>
            </a:pPr>
            <a:r>
              <a:t>Code Available:** code.ipynb (complete implementation)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Visualizations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Complete Analysis Suite:</a:t>
            </a:r>
          </a:p>
          <a:p/>
          <a:p>
            <a:pPr>
              <a:defRPr sz="1800" b="0"/>
            </a:pPr>
            <a:r>
              <a:t>1. missing_data_plot.png - Missing value analysis (Fig. 2)</a:t>
            </a:r>
          </a:p>
          <a:p>
            <a:pPr>
              <a:defRPr sz="1800" b="0"/>
            </a:pPr>
            <a:r>
              <a:t>2. clustering_analysis.png - K-means &amp; dendrogram (Fig. 3)</a:t>
            </a:r>
          </a:p>
          <a:p>
            <a:pPr>
              <a:defRPr sz="1800" b="0"/>
            </a:pPr>
            <a:r>
              <a:t>3. shap_summary.png - Feature importance (Fig. 4)</a:t>
            </a:r>
          </a:p>
          <a:p>
            <a:pPr>
              <a:defRPr sz="1800" b="0"/>
            </a:pPr>
            <a:r>
              <a:t>4. shap_scatter.png - Feature impact analysis (Fig. 5)</a:t>
            </a:r>
          </a:p>
          <a:p>
            <a:pPr>
              <a:defRPr sz="1800" b="0"/>
            </a:pPr>
            <a:r>
              <a:t>5. model_comparison.png - Performance comparison (Figs. 6-9)</a:t>
            </a:r>
          </a:p>
          <a:p>
            <a:pPr>
              <a:defRPr sz="1800" b="0"/>
            </a:pPr>
            <a:r>
              <a:t>6. confusion_matrices.png - All model confusion matrices</a:t>
            </a:r>
          </a:p>
          <a:p/>
          <a:p>
            <a:pPr>
              <a:defRPr sz="2000" b="1"/>
            </a:pPr>
            <a:r>
              <a:t>All figures support research findings and enhance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Chronic Kidney Disease Dataset - Key Statistics:</a:t>
            </a:r>
          </a:p>
          <a:p/>
          <a:p>
            <a:pPr>
              <a:defRPr sz="2000" b="1"/>
            </a:pPr>
            <a:r>
              <a:t>Patient Population:** 400 individuals</a:t>
            </a:r>
          </a:p>
          <a:p/>
          <a:p>
            <a:pPr>
              <a:defRPr sz="2000" b="1"/>
            </a:pPr>
            <a:r>
              <a:t>Demographics Included:</a:t>
            </a:r>
          </a:p>
          <a:p>
            <a:pPr>
              <a:defRPr sz="1800" b="0"/>
            </a:pPr>
            <a:r>
              <a:t>Age distribution</a:t>
            </a:r>
          </a:p>
          <a:p>
            <a:pPr>
              <a:defRPr sz="1800" b="0"/>
            </a:pPr>
            <a:r>
              <a:t>Gender (implicit in clinical markers)</a:t>
            </a:r>
          </a:p>
          <a:p>
            <a:pPr>
              <a:defRPr sz="1800" b="0"/>
            </a:pPr>
            <a:r>
              <a:t>Clinical measurements</a:t>
            </a:r>
          </a:p>
          <a:p/>
          <a:p>
            <a:pPr>
              <a:defRPr sz="2000" b="1"/>
            </a:pPr>
            <a:r>
              <a:t>Risk Factors Captured:</a:t>
            </a:r>
          </a:p>
          <a:p>
            <a:pPr>
              <a:defRPr sz="1800" b="0"/>
            </a:pPr>
            <a:r>
              <a:t>Hypertension (26% prevalence)</a:t>
            </a:r>
          </a:p>
          <a:p>
            <a:pPr>
              <a:defRPr sz="1800" b="0"/>
            </a:pPr>
            <a:r>
              <a:t>Diabetes mellitus (13% prevalence)</a:t>
            </a:r>
          </a:p>
          <a:p>
            <a:pPr>
              <a:defRPr sz="1800" b="0"/>
            </a:pPr>
            <a:r>
              <a:t>Cardiovascular disease (13% prevalence)</a:t>
            </a:r>
          </a:p>
          <a:p/>
          <a:p>
            <a:pPr>
              <a:defRPr sz="2000" b="1"/>
            </a:pPr>
            <a:r>
              <a:t>Outcome Distribution:</a:t>
            </a:r>
          </a:p>
          <a:p>
            <a:pPr>
              <a:defRPr sz="1800" b="0"/>
            </a:pPr>
            <a:r>
              <a:t>CKD patients: ~60%</a:t>
            </a:r>
          </a:p>
          <a:p>
            <a:pPr>
              <a:defRPr sz="1800" b="0"/>
            </a:pPr>
            <a:r>
              <a:t>Non-CKD patients: ~40%</a:t>
            </a:r>
          </a:p>
          <a:p>
            <a:pPr>
              <a:defRPr sz="1800" b="0"/>
            </a:pPr>
            <a:r>
              <a:t>Balanced for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Feature Engineering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From 25 to 7 Features:</a:t>
            </a:r>
          </a:p>
          <a:p/>
          <a:p>
            <a:pPr>
              <a:defRPr sz="2000" b="1"/>
            </a:pPr>
            <a:r>
              <a:t>Original 25 Features:</a:t>
            </a:r>
          </a:p>
          <a:p>
            <a:pPr>
              <a:defRPr sz="1800" b="0"/>
            </a:pPr>
            <a:r>
              <a:t>Age, BP, SG, Albumin, Sugar</a:t>
            </a:r>
          </a:p>
          <a:p>
            <a:pPr>
              <a:defRPr sz="1800" b="0"/>
            </a:pPr>
            <a:r>
              <a:t>RBC, Pus Cell, Pus Cell Clumps, Bacteria</a:t>
            </a:r>
          </a:p>
          <a:p>
            <a:pPr>
              <a:defRPr sz="1800" b="0"/>
            </a:pPr>
            <a:r>
              <a:t>BGR, Blood Urea, Serum Creatinine</a:t>
            </a:r>
          </a:p>
          <a:p>
            <a:pPr>
              <a:defRPr sz="1800" b="0"/>
            </a:pPr>
            <a:r>
              <a:t>Sodium, Potassium, Hemoglobin</a:t>
            </a:r>
          </a:p>
          <a:p>
            <a:pPr>
              <a:defRPr sz="1800" b="0"/>
            </a:pPr>
            <a:r>
              <a:t>PCV, WBC, RBC count</a:t>
            </a:r>
          </a:p>
          <a:p>
            <a:pPr>
              <a:defRPr sz="1800" b="0"/>
            </a:pPr>
            <a:r>
              <a:t>HTN, DM, CAD, Appetite, Pedal Edema, Anemia</a:t>
            </a:r>
          </a:p>
          <a:p/>
          <a:p>
            <a:pPr>
              <a:defRPr sz="2000" b="1"/>
            </a:pPr>
            <a:r>
              <a:t>Selected 7 Features (XGBoost):</a:t>
            </a:r>
          </a:p>
          <a:p>
            <a:pPr>
              <a:defRPr sz="1800" b="0"/>
            </a:pPr>
            <a:r>
              <a:t>1. Hemoglobin (hemo) ⭐</a:t>
            </a:r>
          </a:p>
          <a:p>
            <a:pPr>
              <a:defRPr sz="1800" b="0"/>
            </a:pPr>
            <a:r>
              <a:t>2. Serum Creatinine (sc)</a:t>
            </a:r>
          </a:p>
          <a:p>
            <a:pPr>
              <a:defRPr sz="1800" b="0"/>
            </a:pPr>
            <a:r>
              <a:t>3. Packed Cell Volume (pcv)</a:t>
            </a:r>
          </a:p>
          <a:p>
            <a:pPr>
              <a:defRPr sz="1800" b="0"/>
            </a:pPr>
            <a:r>
              <a:t>4. Albumin (al)</a:t>
            </a:r>
          </a:p>
          <a:p>
            <a:pPr>
              <a:defRPr sz="1800" b="0"/>
            </a:pPr>
            <a:r>
              <a:t>5. Pedal Edema (pe)</a:t>
            </a:r>
          </a:p>
          <a:p>
            <a:pPr>
              <a:defRPr sz="1800" b="0"/>
            </a:pPr>
            <a:r>
              <a:t>6. Blood Pressure (bp)</a:t>
            </a:r>
          </a:p>
          <a:p>
            <a:pPr>
              <a:defRPr sz="1800" b="0"/>
            </a:pPr>
            <a:r>
              <a:t>7. Specific Gravity (sg)</a:t>
            </a:r>
          </a:p>
          <a:p/>
          <a:p>
            <a:pPr>
              <a:defRPr sz="2000" b="1"/>
            </a:pPr>
            <a:r>
              <a:t>Rationale:** Maximum information, minimum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Model Training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Hyperparameters:</a:t>
            </a:r>
          </a:p>
          <a:p/>
          <a:p>
            <a:pPr>
              <a:defRPr sz="2000" b="1"/>
            </a:pPr>
            <a:r>
              <a:t>Neural Network:</a:t>
            </a:r>
          </a:p>
          <a:p>
            <a:pPr>
              <a:defRPr sz="1800" b="0"/>
            </a:pPr>
            <a:r>
              <a:t>Hidden layers: (64, 32)</a:t>
            </a:r>
          </a:p>
          <a:p>
            <a:pPr>
              <a:defRPr sz="1800" b="0"/>
            </a:pPr>
            <a:r>
              <a:t>Max iterations: 500</a:t>
            </a:r>
          </a:p>
          <a:p>
            <a:pPr>
              <a:defRPr sz="1800" b="0"/>
            </a:pPr>
            <a:r>
              <a:t>Early stopping: Enabled</a:t>
            </a:r>
          </a:p>
          <a:p>
            <a:pPr>
              <a:defRPr sz="1800" b="0"/>
            </a:pPr>
            <a:r>
              <a:t>Activation: ReLU</a:t>
            </a:r>
          </a:p>
          <a:p/>
          <a:p>
            <a:pPr>
              <a:defRPr sz="2000" b="1"/>
            </a:pPr>
            <a:r>
              <a:t>Random Forest:</a:t>
            </a:r>
          </a:p>
          <a:p>
            <a:pPr>
              <a:defRPr sz="1800" b="0"/>
            </a:pPr>
            <a:r>
              <a:t>Estimators: 100</a:t>
            </a:r>
          </a:p>
          <a:p>
            <a:pPr>
              <a:defRPr sz="1800" b="0"/>
            </a:pPr>
            <a:r>
              <a:t>Criterion: Gini</a:t>
            </a:r>
          </a:p>
          <a:p>
            <a:pPr>
              <a:defRPr sz="1800" b="0"/>
            </a:pPr>
            <a:r>
              <a:t>Max depth: Unlimited</a:t>
            </a:r>
          </a:p>
          <a:p/>
          <a:p>
            <a:pPr>
              <a:defRPr sz="2000" b="1"/>
            </a:pPr>
            <a:r>
              <a:t>SVM:</a:t>
            </a:r>
          </a:p>
          <a:p>
            <a:pPr>
              <a:defRPr sz="1800" b="0"/>
            </a:pPr>
            <a:r>
              <a:t>Kernel: RBF</a:t>
            </a:r>
          </a:p>
          <a:p>
            <a:pPr>
              <a:defRPr sz="1800" b="0"/>
            </a:pPr>
            <a:r>
              <a:t>C: 10</a:t>
            </a:r>
          </a:p>
          <a:p>
            <a:pPr>
              <a:defRPr sz="1800" b="0"/>
            </a:pPr>
            <a:r>
              <a:t>Gamma: Scale</a:t>
            </a:r>
          </a:p>
          <a:p/>
          <a:p>
            <a:pPr>
              <a:defRPr sz="2000" b="1"/>
            </a:pPr>
            <a:r>
              <a:t>Extra Trees:</a:t>
            </a:r>
          </a:p>
          <a:p>
            <a:pPr>
              <a:defRPr sz="1800" b="0"/>
            </a:pPr>
            <a:r>
              <a:t>Estimators: 100</a:t>
            </a:r>
          </a:p>
          <a:p>
            <a:pPr>
              <a:defRPr sz="1800" b="0"/>
            </a:pPr>
            <a:r>
              <a:t>Random splits</a:t>
            </a:r>
          </a:p>
          <a:p/>
          <a:p>
            <a:pPr>
              <a:defRPr sz="2000" b="1"/>
            </a:pPr>
            <a:r>
              <a:t>Bagging:</a:t>
            </a:r>
          </a:p>
          <a:p>
            <a:pPr>
              <a:defRPr sz="1800" b="0"/>
            </a:pPr>
            <a:r>
              <a:t>Base: Decision Tree</a:t>
            </a:r>
          </a:p>
          <a:p>
            <a:pPr>
              <a:defRPr sz="1800" b="0"/>
            </a:pPr>
            <a:r>
              <a:t>Estimators: 100</a:t>
            </a:r>
          </a:p>
          <a:p>
            <a:pPr>
              <a:defRPr sz="1800" b="0"/>
            </a:pPr>
            <a:r>
              <a:t>Bootstrap: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Clinical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Medical Relevance of Top Features:</a:t>
            </a:r>
          </a:p>
          <a:p/>
          <a:p>
            <a:pPr>
              <a:defRPr sz="1800" b="0"/>
            </a:pPr>
            <a:r>
              <a:t>Hemoglobin: Anemia indicator in CKD</a:t>
            </a:r>
          </a:p>
          <a:p>
            <a:pPr>
              <a:defRPr sz="1800" b="0"/>
            </a:pPr>
            <a:r>
              <a:t>Serum Creatinine: Direct kidney filtration marker</a:t>
            </a:r>
          </a:p>
          <a:p>
            <a:pPr>
              <a:defRPr sz="1800" b="0"/>
            </a:pPr>
            <a:r>
              <a:t>PCV: Red blood cell concentration</a:t>
            </a:r>
          </a:p>
          <a:p>
            <a:pPr>
              <a:defRPr sz="1800" b="0"/>
            </a:pPr>
            <a:r>
              <a:t>Albumin: Protein leakage indicator</a:t>
            </a:r>
          </a:p>
          <a:p>
            <a:pPr>
              <a:defRPr sz="1800" b="0"/>
            </a:pPr>
            <a:r>
              <a:t>Pedal Edema: Fluid retention sign</a:t>
            </a:r>
          </a:p>
          <a:p>
            <a:pPr>
              <a:defRPr sz="1800" b="0"/>
            </a:pPr>
            <a:r>
              <a:t>Blood Pressure: Hypertension comorbidity</a:t>
            </a:r>
          </a:p>
          <a:p>
            <a:pPr>
              <a:defRPr sz="1800" b="0"/>
            </a:pPr>
            <a:r>
              <a:t>Specific Gravity: Urine concentration ability</a:t>
            </a:r>
          </a:p>
          <a:p/>
          <a:p>
            <a:pPr>
              <a:defRPr sz="2000" b="1"/>
            </a:pPr>
            <a:r>
              <a:t>All features align with:</a:t>
            </a:r>
          </a:p>
          <a:p>
            <a:pPr>
              <a:defRPr sz="1800" b="0"/>
            </a:pPr>
            <a:r>
              <a:t>Clinical guidelines (KDIGO)</a:t>
            </a:r>
          </a:p>
          <a:p>
            <a:pPr>
              <a:defRPr sz="1800" b="0"/>
            </a:pPr>
            <a:r>
              <a:t>Nephrology best practices</a:t>
            </a:r>
          </a:p>
          <a:p>
            <a:pPr>
              <a:defRPr sz="1800" b="0"/>
            </a:pPr>
            <a:r>
              <a:t>Standard diagnostic criteria</a:t>
            </a:r>
          </a:p>
          <a:p/>
          <a:p>
            <a:pPr>
              <a:defRPr sz="2000" b="1"/>
            </a:pPr>
            <a:r>
              <a:t>Model is clinically interpretable and actionable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Performance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Best Model: SVM with XGBoost Features</a:t>
            </a:r>
          </a:p>
          <a:p/>
          <a:p>
            <a:pPr>
              <a:defRPr sz="2000" b="1"/>
            </a:pPr>
            <a:r>
              <a:t>Metrics:</a:t>
            </a:r>
          </a:p>
          <a:p>
            <a:pPr>
              <a:defRPr sz="1800" b="0"/>
            </a:pPr>
            <a:r>
              <a:t>✅ Accuracy: 100.00%</a:t>
            </a:r>
          </a:p>
          <a:p>
            <a:pPr>
              <a:defRPr sz="1800" b="0"/>
            </a:pPr>
            <a:r>
              <a:t>✅ Sensitivity: 100.00%</a:t>
            </a:r>
          </a:p>
          <a:p>
            <a:pPr>
              <a:defRPr sz="1800" b="0"/>
            </a:pPr>
            <a:r>
              <a:t>✅ Specificity: 100.00%</a:t>
            </a:r>
          </a:p>
          <a:p>
            <a:pPr>
              <a:defRPr sz="1800" b="0"/>
            </a:pPr>
            <a:r>
              <a:t>✅ Cohen's Kappa: 100.00%</a:t>
            </a:r>
          </a:p>
          <a:p/>
          <a:p>
            <a:pPr>
              <a:defRPr sz="2000" b="1"/>
            </a:pPr>
            <a:r>
              <a:t>Perfect Classification:</a:t>
            </a:r>
          </a:p>
          <a:p>
            <a:pPr>
              <a:defRPr sz="1800" b="0"/>
            </a:pPr>
            <a:r>
              <a:t>Zero false negatives (no missed CKD cases)</a:t>
            </a:r>
          </a:p>
          <a:p>
            <a:pPr>
              <a:defRPr sz="1800" b="0"/>
            </a:pPr>
            <a:r>
              <a:t>Zero false positives (no unnecessary treatments)</a:t>
            </a:r>
          </a:p>
          <a:p>
            <a:pPr>
              <a:defRPr sz="1800" b="0"/>
            </a:pPr>
            <a:r>
              <a:t>Ideal for screening applications</a:t>
            </a:r>
          </a:p>
          <a:p/>
          <a:p>
            <a:pPr>
              <a:defRPr sz="2000" b="1"/>
            </a:pPr>
            <a:r>
              <a:t>Runner-up:</a:t>
            </a:r>
          </a:p>
          <a:p>
            <a:pPr>
              <a:defRPr sz="1800" b="0"/>
            </a:pPr>
            <a:r>
              <a:t>Random Forest: 98.75% accuracy</a:t>
            </a:r>
          </a:p>
          <a:p>
            <a:pPr>
              <a:defRPr sz="1800" b="0"/>
            </a:pPr>
            <a:r>
              <a:t>Neural Network: 97.50%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Phase 1: Research &amp; Development** ✅</a:t>
            </a:r>
          </a:p>
          <a:p>
            <a:pPr>
              <a:defRPr sz="1800" b="0"/>
            </a:pPr>
            <a:r>
              <a:t>Data collection and preprocessing</a:t>
            </a:r>
          </a:p>
          <a:p>
            <a:pPr>
              <a:defRPr sz="1800" b="0"/>
            </a:pPr>
            <a:r>
              <a:t>Feature engineering and selection</a:t>
            </a:r>
          </a:p>
          <a:p>
            <a:pPr>
              <a:defRPr sz="1800" b="0"/>
            </a:pPr>
            <a:r>
              <a:t>Model development and evaluation</a:t>
            </a:r>
          </a:p>
          <a:p>
            <a:pPr>
              <a:defRPr sz="1800" b="0"/>
            </a:pPr>
            <a:r>
              <a:t>Results validation</a:t>
            </a:r>
          </a:p>
          <a:p/>
          <a:p>
            <a:pPr>
              <a:defRPr sz="2000" b="1"/>
            </a:pPr>
            <a:r>
              <a:t>Phase 2: Clinical Integration** 🔄</a:t>
            </a:r>
          </a:p>
          <a:p>
            <a:pPr>
              <a:defRPr sz="1800" b="0"/>
            </a:pPr>
            <a:r>
              <a:t>EHR system integration</a:t>
            </a:r>
          </a:p>
          <a:p>
            <a:pPr>
              <a:defRPr sz="1800" b="0"/>
            </a:pPr>
            <a:r>
              <a:t>Real-time prediction API</a:t>
            </a:r>
          </a:p>
          <a:p>
            <a:pPr>
              <a:defRPr sz="1800" b="0"/>
            </a:pPr>
            <a:r>
              <a:t>User interface for clinicians</a:t>
            </a:r>
          </a:p>
          <a:p>
            <a:pPr>
              <a:defRPr sz="1800" b="0"/>
            </a:pPr>
            <a:r>
              <a:t>Pilot testing in hospital</a:t>
            </a:r>
          </a:p>
          <a:p/>
          <a:p>
            <a:pPr>
              <a:defRPr sz="2000" b="1"/>
            </a:pPr>
            <a:r>
              <a:t>Phase 3: Deployment &amp; Scale** 🔜</a:t>
            </a:r>
          </a:p>
          <a:p>
            <a:pPr>
              <a:defRPr sz="1800" b="0"/>
            </a:pPr>
            <a:r>
              <a:t>Multi-center validation</a:t>
            </a:r>
          </a:p>
          <a:p>
            <a:pPr>
              <a:defRPr sz="1800" b="0"/>
            </a:pPr>
            <a:r>
              <a:t>Regulatory approval (FDA/CE)</a:t>
            </a:r>
          </a:p>
          <a:p>
            <a:pPr>
              <a:defRPr sz="1800" b="0"/>
            </a:pPr>
            <a:r>
              <a:t>Commercial deployment</a:t>
            </a:r>
          </a:p>
          <a:p>
            <a:pPr>
              <a:defRPr sz="1800" b="0"/>
            </a:pPr>
            <a:r>
              <a:t>Continuous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Data Privacy:</a:t>
            </a:r>
          </a:p>
          <a:p>
            <a:pPr>
              <a:defRPr sz="1800" b="0"/>
            </a:pPr>
            <a:r>
              <a:t>HIPAA compliance required</a:t>
            </a:r>
          </a:p>
          <a:p>
            <a:pPr>
              <a:defRPr sz="1800" b="0"/>
            </a:pPr>
            <a:r>
              <a:t>Patient consent and anonymization</a:t>
            </a:r>
          </a:p>
          <a:p>
            <a:pPr>
              <a:defRPr sz="1800" b="0"/>
            </a:pPr>
            <a:r>
              <a:t>Secure data storage and transmission</a:t>
            </a:r>
          </a:p>
          <a:p/>
          <a:p>
            <a:pPr>
              <a:defRPr sz="2000" b="1"/>
            </a:pPr>
            <a:r>
              <a:t>Algorithmic Fairness:</a:t>
            </a:r>
          </a:p>
          <a:p>
            <a:pPr>
              <a:defRPr sz="1800" b="0"/>
            </a:pPr>
            <a:r>
              <a:t>Bias detection across demographics</a:t>
            </a:r>
          </a:p>
          <a:p>
            <a:pPr>
              <a:defRPr sz="1800" b="0"/>
            </a:pPr>
            <a:r>
              <a:t>Equal performance across populations</a:t>
            </a:r>
          </a:p>
          <a:p>
            <a:pPr>
              <a:defRPr sz="1800" b="0"/>
            </a:pPr>
            <a:r>
              <a:t>Regular audits and updates</a:t>
            </a:r>
          </a:p>
          <a:p/>
          <a:p>
            <a:pPr>
              <a:defRPr sz="2000" b="1"/>
            </a:pPr>
            <a:r>
              <a:t>Clinical Decision Support:</a:t>
            </a:r>
          </a:p>
          <a:p>
            <a:pPr>
              <a:defRPr sz="1800" b="0"/>
            </a:pPr>
            <a:r>
              <a:t>Assist, not replace clinicians</a:t>
            </a:r>
          </a:p>
          <a:p>
            <a:pPr>
              <a:defRPr sz="1800" b="0"/>
            </a:pPr>
            <a:r>
              <a:t>Transparent predictions with explanations</a:t>
            </a:r>
          </a:p>
          <a:p>
            <a:pPr>
              <a:defRPr sz="1800" b="0"/>
            </a:pPr>
            <a:r>
              <a:t>Human-in-the-loop validation</a:t>
            </a:r>
          </a:p>
          <a:p/>
          <a:p>
            <a:pPr>
              <a:defRPr sz="2000" b="1"/>
            </a:pPr>
            <a:r>
              <a:t>Liability:</a:t>
            </a:r>
          </a:p>
          <a:p>
            <a:pPr>
              <a:defRPr sz="1800" b="0"/>
            </a:pPr>
            <a:r>
              <a:t>Clear responsibility framework</a:t>
            </a:r>
          </a:p>
          <a:p>
            <a:pPr>
              <a:defRPr sz="1800" b="0"/>
            </a:pPr>
            <a:r>
              <a:t>Error handling protocols</a:t>
            </a:r>
          </a:p>
          <a:p>
            <a:pPr>
              <a:defRPr sz="1800" b="0"/>
            </a:pPr>
            <a:r>
              <a:t>Continuous monitoring and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Cost-Benefit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Economic Impact:</a:t>
            </a:r>
          </a:p>
          <a:p/>
          <a:p>
            <a:pPr>
              <a:defRPr sz="2000" b="1"/>
            </a:pPr>
            <a:r>
              <a:t>Current CKD Management:</a:t>
            </a:r>
          </a:p>
          <a:p>
            <a:pPr>
              <a:defRPr sz="1800" b="0"/>
            </a:pPr>
            <a:r>
              <a:t>Annual cost: $100+ billion (US)</a:t>
            </a:r>
          </a:p>
          <a:p>
            <a:pPr>
              <a:defRPr sz="1800" b="0"/>
            </a:pPr>
            <a:r>
              <a:t>Late-stage treatment: $80,000/patient/year</a:t>
            </a:r>
          </a:p>
          <a:p>
            <a:pPr>
              <a:defRPr sz="1800" b="0"/>
            </a:pPr>
            <a:r>
              <a:t>Dialysis: $90,000/patient/year</a:t>
            </a:r>
          </a:p>
          <a:p/>
          <a:p>
            <a:pPr>
              <a:defRPr sz="2000" b="1"/>
            </a:pPr>
            <a:r>
              <a:t>Early Detection Benefits:</a:t>
            </a:r>
          </a:p>
          <a:p>
            <a:pPr>
              <a:defRPr sz="1800" b="0"/>
            </a:pPr>
            <a:r>
              <a:t>Prevent progression to ESRD</a:t>
            </a:r>
          </a:p>
          <a:p>
            <a:pPr>
              <a:defRPr sz="1800" b="0"/>
            </a:pPr>
            <a:r>
              <a:t>Reduce dialysis needs by 50%</a:t>
            </a:r>
          </a:p>
          <a:p>
            <a:pPr>
              <a:defRPr sz="1800" b="0"/>
            </a:pPr>
            <a:r>
              <a:t>Lower hospitalization rates</a:t>
            </a:r>
          </a:p>
          <a:p>
            <a:pPr>
              <a:defRPr sz="1800" b="0"/>
            </a:pPr>
            <a:r>
              <a:t>Improve quality of life</a:t>
            </a:r>
          </a:p>
          <a:p/>
          <a:p>
            <a:pPr>
              <a:defRPr sz="2000" b="1"/>
            </a:pPr>
            <a:r>
              <a:t>ROI:</a:t>
            </a:r>
          </a:p>
          <a:p>
            <a:pPr>
              <a:defRPr sz="1800" b="0"/>
            </a:pPr>
            <a:r>
              <a:t>Screening cost: ~$50/test</a:t>
            </a:r>
          </a:p>
          <a:p>
            <a:pPr>
              <a:defRPr sz="1800" b="0"/>
            </a:pPr>
            <a:r>
              <a:t>Potential savings: $10,000+/patient</a:t>
            </a:r>
          </a:p>
          <a:p>
            <a:pPr>
              <a:defRPr sz="1800" b="0"/>
            </a:pPr>
            <a:r>
              <a:t>Break-even: 1 prevented ESRD case per 200 screenings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Short-term (1-2 years):</a:t>
            </a:r>
          </a:p>
          <a:p>
            <a:pPr>
              <a:defRPr sz="1800" b="0"/>
            </a:pPr>
            <a:r>
              <a:t>Multi-hospital validation study</a:t>
            </a:r>
          </a:p>
          <a:p>
            <a:pPr>
              <a:defRPr sz="1800" b="0"/>
            </a:pPr>
            <a:r>
              <a:t>Integration with electronic health records</a:t>
            </a:r>
          </a:p>
          <a:p>
            <a:pPr>
              <a:defRPr sz="1800" b="0"/>
            </a:pPr>
            <a:r>
              <a:t>Mobile app for point-of-care screening</a:t>
            </a:r>
          </a:p>
          <a:p>
            <a:pPr>
              <a:defRPr sz="1800" b="0"/>
            </a:pPr>
            <a:r>
              <a:t>Expanded feature set (genetic markers)</a:t>
            </a:r>
          </a:p>
          <a:p/>
          <a:p>
            <a:pPr>
              <a:defRPr sz="2000" b="1"/>
            </a:pPr>
            <a:r>
              <a:t>Medium-term (3-5 years):</a:t>
            </a:r>
          </a:p>
          <a:p>
            <a:pPr>
              <a:defRPr sz="1800" b="0"/>
            </a:pPr>
            <a:r>
              <a:t>FDA approval for clinical use</a:t>
            </a:r>
          </a:p>
          <a:p>
            <a:pPr>
              <a:defRPr sz="1800" b="0"/>
            </a:pPr>
            <a:r>
              <a:t>International deployment</a:t>
            </a:r>
          </a:p>
          <a:p>
            <a:pPr>
              <a:defRPr sz="1800" b="0"/>
            </a:pPr>
            <a:r>
              <a:t>Multi-language support</a:t>
            </a:r>
          </a:p>
          <a:p>
            <a:pPr>
              <a:defRPr sz="1800" b="0"/>
            </a:pPr>
            <a:r>
              <a:t>Pediatric CKD adaptation</a:t>
            </a:r>
          </a:p>
          <a:p/>
          <a:p>
            <a:pPr>
              <a:defRPr sz="2000" b="1"/>
            </a:pPr>
            <a:r>
              <a:t>Long-term (5+ years):</a:t>
            </a:r>
          </a:p>
          <a:p>
            <a:pPr>
              <a:defRPr sz="1800" b="0"/>
            </a:pPr>
            <a:r>
              <a:t>AI-assisted treatment planning</a:t>
            </a:r>
          </a:p>
          <a:p>
            <a:pPr>
              <a:defRPr sz="1800" b="0"/>
            </a:pPr>
            <a:r>
              <a:t>Personalized medicine integration</a:t>
            </a:r>
          </a:p>
          <a:p>
            <a:pPr>
              <a:defRPr sz="1800" b="0"/>
            </a:pPr>
            <a:r>
              <a:t>Predictive analytics for progression</a:t>
            </a:r>
          </a:p>
          <a:p>
            <a:pPr>
              <a:defRPr sz="1800" b="0"/>
            </a:pPr>
            <a:r>
              <a:t>Population health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Primary Source:</a:t>
            </a:r>
          </a:p>
          <a:p>
            <a:pPr>
              <a:defRPr sz="1800" b="0"/>
            </a:pPr>
            <a:r>
              <a:t>Hassan, M.M., Hassan, M.H., Mollick, S., et al. (2023).</a:t>
            </a:r>
          </a:p>
          <a:p>
            <a:pPr>
              <a:defRPr sz="1800" b="0"/>
            </a:pPr>
            <a:r>
              <a:t>"A Comparative Study, Prediction and Development of Chronic Kidney Disease Using Machine Learning on Patients Clinical Records."</a:t>
            </a:r>
          </a:p>
          <a:p>
            <a:pPr>
              <a:defRPr sz="1800" b="0"/>
            </a:pPr>
            <a:r>
              <a:t>*Human-Centric Intelligent Systems*, 3:92–104.</a:t>
            </a:r>
          </a:p>
          <a:p>
            <a:pPr>
              <a:defRPr sz="1800" b="0"/>
            </a:pPr>
            <a:r>
              <a:t>https://doi.org/10.1007/s44230-023-00017-3</a:t>
            </a:r>
          </a:p>
          <a:p/>
          <a:p>
            <a:pPr>
              <a:defRPr sz="2000" b="1"/>
            </a:pPr>
            <a:r>
              <a:t>Supporting Literature:</a:t>
            </a:r>
          </a:p>
          <a:p>
            <a:pPr>
              <a:defRPr sz="1800" b="0"/>
            </a:pPr>
            <a:r>
              <a:t>Almansour et al. (2021) - Neural Network approaches</a:t>
            </a:r>
          </a:p>
          <a:p>
            <a:pPr>
              <a:defRPr sz="1800" b="0"/>
            </a:pPr>
            <a:r>
              <a:t>Khan et al. (2020) - SVM for CKD prediction</a:t>
            </a:r>
          </a:p>
          <a:p>
            <a:pPr>
              <a:defRPr sz="1800" b="0"/>
            </a:pPr>
            <a:r>
              <a:t>Gunarathne et al. (2019) - Decision forest methods</a:t>
            </a:r>
          </a:p>
          <a:p>
            <a:pPr>
              <a:defRPr sz="1800" b="0"/>
            </a:pPr>
            <a:r>
              <a:t>Alasker et al. (2018) - Data mining classifiers</a:t>
            </a:r>
          </a:p>
          <a:p/>
          <a:p>
            <a:pPr>
              <a:defRPr sz="2000" b="1"/>
            </a:pPr>
            <a:r>
              <a:t>Dataset:</a:t>
            </a:r>
          </a:p>
          <a:p>
            <a:pPr>
              <a:defRPr sz="1800" b="0"/>
            </a:pPr>
            <a:r>
              <a:t>UCI Machine Learning Repository: Chronic Kidney Disease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Research Team:</a:t>
            </a:r>
          </a:p>
          <a:p>
            <a:pPr>
              <a:defRPr sz="1800" b="0"/>
            </a:pPr>
            <a:r>
              <a:t>Computer Science and Engineering, Khulna University</a:t>
            </a:r>
          </a:p>
          <a:p>
            <a:pPr>
              <a:defRPr sz="1800" b="0"/>
            </a:pPr>
            <a:r>
              <a:t>Bangladesh University of Business &amp; Technology</a:t>
            </a:r>
          </a:p>
          <a:p>
            <a:pPr>
              <a:defRPr sz="1800" b="0"/>
            </a:pPr>
            <a:r>
              <a:t>Northern University of Business &amp; Technology</a:t>
            </a:r>
          </a:p>
          <a:p>
            <a:pPr>
              <a:defRPr sz="1800" b="0"/>
            </a:pPr>
            <a:r>
              <a:t>Changzhou University</a:t>
            </a:r>
          </a:p>
          <a:p>
            <a:pPr>
              <a:defRPr sz="1800" b="0"/>
            </a:pPr>
            <a:r>
              <a:t>North Western University</a:t>
            </a:r>
          </a:p>
          <a:p>
            <a:pPr>
              <a:defRPr sz="1800" b="0"/>
            </a:pPr>
            <a:r>
              <a:t>Port City International University</a:t>
            </a:r>
          </a:p>
          <a:p>
            <a:pPr>
              <a:defRPr sz="1800" b="0"/>
            </a:pPr>
            <a:r>
              <a:t>University of Dhaka</a:t>
            </a:r>
          </a:p>
          <a:p/>
          <a:p>
            <a:pPr>
              <a:defRPr sz="2000" b="1"/>
            </a:pPr>
            <a:r>
              <a:t>Collaborating Institutions:</a:t>
            </a:r>
          </a:p>
          <a:p>
            <a:pPr>
              <a:defRPr sz="1800" b="0"/>
            </a:pPr>
            <a:r>
              <a:t>VRD Research Lab, Khulna</a:t>
            </a:r>
          </a:p>
          <a:p>
            <a:pPr>
              <a:defRPr sz="1800" b="0"/>
            </a:pPr>
            <a:r>
              <a:t>Department of Biomedical Research</a:t>
            </a:r>
          </a:p>
          <a:p>
            <a:pPr>
              <a:defRPr sz="1800" b="0"/>
            </a:pPr>
            <a:r>
              <a:t>Department of Management Information Systems</a:t>
            </a:r>
          </a:p>
          <a:p/>
          <a:p>
            <a:pPr>
              <a:defRPr sz="2000" b="1"/>
            </a:pPr>
            <a:r>
              <a:t>Funding:</a:t>
            </a:r>
          </a:p>
          <a:p>
            <a:pPr>
              <a:defRPr sz="1800" b="0"/>
            </a:pPr>
            <a:r>
              <a:t>Institutional research support</a:t>
            </a:r>
          </a:p>
          <a:p>
            <a:pPr>
              <a:defRPr sz="1800" b="0"/>
            </a:pPr>
            <a:r>
              <a:t>Computational resources provided by participating universities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Thank You!</a:t>
            </a:r>
          </a:p>
          <a:p/>
          <a:p>
            <a:pPr>
              <a:defRPr sz="2000" b="1"/>
            </a:pPr>
            <a:r>
              <a:t>Contact Information:</a:t>
            </a:r>
          </a:p>
          <a:p>
            <a:pPr>
              <a:defRPr sz="1800" b="0"/>
            </a:pPr>
            <a:r>
              <a:t>Research Team: [Institutional emails]</a:t>
            </a:r>
          </a:p>
          <a:p>
            <a:pPr>
              <a:defRPr sz="1800" b="0"/>
            </a:pPr>
            <a:r>
              <a:t>Code Repository: Available upon request</a:t>
            </a:r>
          </a:p>
          <a:p>
            <a:pPr>
              <a:defRPr sz="1800" b="0"/>
            </a:pPr>
            <a:r>
              <a:t>Dataset: UCI ML Repository (public)</a:t>
            </a:r>
          </a:p>
          <a:p/>
          <a:p>
            <a:pPr>
              <a:defRPr sz="2000" b="1"/>
            </a:pPr>
            <a:r>
              <a:t>Key Takeaways:</a:t>
            </a:r>
          </a:p>
          <a:p>
            <a:pPr>
              <a:defRPr sz="1800" b="0"/>
            </a:pPr>
            <a:r>
              <a:t>Machine learning enables accurate CKD prediction</a:t>
            </a:r>
          </a:p>
          <a:p>
            <a:pPr>
              <a:defRPr sz="1800" b="0"/>
            </a:pPr>
            <a:r>
              <a:t>Feature selection improves model efficiency</a:t>
            </a:r>
          </a:p>
          <a:p>
            <a:pPr>
              <a:defRPr sz="1800" b="0"/>
            </a:pPr>
            <a:r>
              <a:t>SVM achieves 100% accuracy with selected features</a:t>
            </a:r>
          </a:p>
          <a:p>
            <a:pPr>
              <a:defRPr sz="1800" b="0"/>
            </a:pPr>
            <a:r>
              <a:t>Clinically interpretable and actionable results</a:t>
            </a:r>
          </a:p>
          <a:p>
            <a:pPr>
              <a:defRPr sz="1800" b="0"/>
            </a:pPr>
            <a:r>
              <a:t>Ready for clinical validation and deployment</a:t>
            </a:r>
          </a:p>
          <a:p/>
          <a:p>
            <a:pPr>
              <a:defRPr sz="2000" b="1"/>
            </a:pPr>
            <a:r>
              <a:t>Discussion Topics:</a:t>
            </a:r>
          </a:p>
          <a:p>
            <a:pPr>
              <a:defRPr sz="1800" b="0"/>
            </a:pPr>
            <a:r>
              <a:t>Clinical integration challenges</a:t>
            </a:r>
          </a:p>
          <a:p>
            <a:pPr>
              <a:defRPr sz="1800" b="0"/>
            </a:pPr>
            <a:r>
              <a:t>Regulatory approval pathway</a:t>
            </a:r>
          </a:p>
          <a:p>
            <a:pPr>
              <a:defRPr sz="1800" b="0"/>
            </a:pPr>
            <a:r>
              <a:t>Multi-center validation strategy</a:t>
            </a:r>
          </a:p>
          <a:p>
            <a:pPr>
              <a:defRPr sz="1800" b="0"/>
            </a:pPr>
            <a:r>
              <a:t>Cost-effectiveness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Appendix - 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Computational Environment:</a:t>
            </a:r>
          </a:p>
          <a:p>
            <a:pPr>
              <a:defRPr sz="1800" b="0"/>
            </a:pPr>
            <a:r>
              <a:t>Python 3.x</a:t>
            </a:r>
          </a:p>
          <a:p>
            <a:pPr>
              <a:defRPr sz="1800" b="0"/>
            </a:pPr>
            <a:r>
              <a:t>Jupyter Notebook</a:t>
            </a:r>
          </a:p>
          <a:p>
            <a:pPr>
              <a:defRPr sz="1800" b="0"/>
            </a:pPr>
            <a:r>
              <a:t>scikit-learn 1.x</a:t>
            </a:r>
          </a:p>
          <a:p>
            <a:pPr>
              <a:defRPr sz="1800" b="0"/>
            </a:pPr>
            <a:r>
              <a:t>xgboost 1.x</a:t>
            </a:r>
          </a:p>
          <a:p>
            <a:pPr>
              <a:defRPr sz="1800" b="0"/>
            </a:pPr>
            <a:r>
              <a:t>shap latest</a:t>
            </a:r>
          </a:p>
          <a:p/>
          <a:p>
            <a:pPr>
              <a:defRPr sz="2000" b="1"/>
            </a:pPr>
            <a:r>
              <a:t>Hardware Requirements:</a:t>
            </a:r>
          </a:p>
          <a:p>
            <a:pPr>
              <a:defRPr sz="1800" b="0"/>
            </a:pPr>
            <a:r>
              <a:t>Training: Standard laptop/desktop</a:t>
            </a:r>
          </a:p>
          <a:p>
            <a:pPr>
              <a:defRPr sz="1800" b="0"/>
            </a:pPr>
            <a:r>
              <a:t>Inference: Minimal (suitable for edge deployment)</a:t>
            </a:r>
          </a:p>
          <a:p>
            <a:pPr>
              <a:defRPr sz="1800" b="0"/>
            </a:pPr>
            <a:r>
              <a:t>Memory: &lt; 512 MB</a:t>
            </a:r>
          </a:p>
          <a:p>
            <a:pPr>
              <a:defRPr sz="1800" b="0"/>
            </a:pPr>
            <a:r>
              <a:t>Processing: &lt; 1 second per prediction</a:t>
            </a:r>
          </a:p>
          <a:p/>
          <a:p>
            <a:pPr>
              <a:defRPr sz="2000" b="1"/>
            </a:pPr>
            <a:r>
              <a:t>Scalability:</a:t>
            </a:r>
          </a:p>
          <a:p>
            <a:pPr>
              <a:defRPr sz="1800" b="0"/>
            </a:pPr>
            <a:r>
              <a:t>Cloud-ready architecture</a:t>
            </a:r>
          </a:p>
          <a:p>
            <a:pPr>
              <a:defRPr sz="1800" b="0"/>
            </a:pPr>
            <a:r>
              <a:t>Microservices compatible</a:t>
            </a:r>
          </a:p>
          <a:p>
            <a:pPr>
              <a:defRPr sz="1800" b="0"/>
            </a:pPr>
            <a:r>
              <a:t>API-first design</a:t>
            </a:r>
          </a:p>
          <a:p>
            <a:pPr>
              <a:defRPr sz="1800" b="0"/>
            </a:pPr>
            <a:r>
              <a:t>Batch and real-time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Appendix -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Main Pipeline (code.ipynb):</a:t>
            </a:r>
          </a:p>
          <a:p>
            <a:pPr>
              <a:defRPr sz="1800" b="0"/>
            </a:pPr>
            <a:r>
              <a:t>1. Data Loading &amp; Exploration (Cells 1-4)</a:t>
            </a:r>
          </a:p>
          <a:p>
            <a:pPr>
              <a:defRPr sz="1800" b="0"/>
            </a:pPr>
            <a:r>
              <a:t>2. Data Preprocessing (Cells 5-7)</a:t>
            </a:r>
          </a:p>
          <a:p>
            <a:pPr>
              <a:defRPr sz="1800" b="0"/>
            </a:pPr>
            <a:r>
              <a:t>3. K-Means Clustering (Cell 8)</a:t>
            </a:r>
          </a:p>
          <a:p>
            <a:pPr>
              <a:defRPr sz="1800" b="0"/>
            </a:pPr>
            <a:r>
              <a:t>4. XGBoost Feature Selection (Cells 9-11)</a:t>
            </a:r>
          </a:p>
          <a:p>
            <a:pPr>
              <a:defRPr sz="1800" b="0"/>
            </a:pPr>
            <a:r>
              <a:t>5. SHAP Analysis (Cells 10-12)</a:t>
            </a:r>
          </a:p>
          <a:p>
            <a:pPr>
              <a:defRPr sz="1800" b="0"/>
            </a:pPr>
            <a:r>
              <a:t>6. Dataset Splitting (Cell 13)</a:t>
            </a:r>
          </a:p>
          <a:p>
            <a:pPr>
              <a:defRPr sz="1800" b="0"/>
            </a:pPr>
            <a:r>
              <a:t>7. Model Training (Cells 14-19)</a:t>
            </a:r>
          </a:p>
          <a:p>
            <a:pPr>
              <a:defRPr sz="1800" b="0"/>
            </a:pPr>
            <a:r>
              <a:t>8. Results &amp; Visualization (Cells 20-24)</a:t>
            </a:r>
          </a:p>
          <a:p/>
          <a:p>
            <a:pPr>
              <a:defRPr sz="2000" b="1"/>
            </a:pPr>
            <a:r>
              <a:t>Key Functions:</a:t>
            </a:r>
          </a:p>
          <a:p>
            <a:pPr>
              <a:defRPr sz="1800" b="0"/>
            </a:pPr>
            <a:r>
              <a:t>`get_metrics()` - Performance calculation</a:t>
            </a:r>
          </a:p>
          <a:p>
            <a:pPr>
              <a:defRPr sz="1800" b="0"/>
            </a:pPr>
            <a:r>
              <a:t>Feature importance extraction</a:t>
            </a:r>
          </a:p>
          <a:p>
            <a:pPr>
              <a:defRPr sz="1800" b="0"/>
            </a:pPr>
            <a:r>
              <a:t>Confusion matrix generation</a:t>
            </a:r>
          </a:p>
          <a:p>
            <a:pPr>
              <a:defRPr sz="1800" b="0"/>
            </a:pPr>
            <a:r>
              <a:t>Visualization utilities</a:t>
            </a:r>
          </a:p>
          <a:p/>
          <a:p>
            <a:pPr>
              <a:defRPr sz="2000" b="1"/>
            </a:pPr>
            <a:r>
              <a:t>Output Files:</a:t>
            </a:r>
          </a:p>
          <a:p>
            <a:pPr>
              <a:defRPr sz="1800" b="0"/>
            </a:pPr>
            <a:r>
              <a:t>6 visualization PNG files</a:t>
            </a:r>
          </a:p>
          <a:p>
            <a:pPr>
              <a:defRPr sz="1800" b="0"/>
            </a:pPr>
            <a:r>
              <a:t>Performance metrics tables</a:t>
            </a:r>
          </a:p>
          <a:p>
            <a:pPr>
              <a:defRPr sz="1800" b="0"/>
            </a:pPr>
            <a:r>
              <a:t>Classification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Validation Steps:</a:t>
            </a:r>
          </a:p>
          <a:p/>
          <a:p>
            <a:pPr>
              <a:defRPr sz="2000" b="1"/>
            </a:pPr>
            <a:r>
              <a:t>Data Cleaning:</a:t>
            </a:r>
          </a:p>
          <a:p>
            <a:pPr>
              <a:defRPr sz="1800" b="0"/>
            </a:pPr>
            <a:r>
              <a:t>✅ Missing value imputation (PMM)</a:t>
            </a:r>
          </a:p>
          <a:p>
            <a:pPr>
              <a:defRPr sz="1800" b="0"/>
            </a:pPr>
            <a:r>
              <a:t>✅ Outlier detection and handling</a:t>
            </a:r>
          </a:p>
          <a:p>
            <a:pPr>
              <a:defRPr sz="1800" b="0"/>
            </a:pPr>
            <a:r>
              <a:t>✅ Feature type validation</a:t>
            </a:r>
          </a:p>
          <a:p>
            <a:pPr>
              <a:defRPr sz="1800" b="0"/>
            </a:pPr>
            <a:r>
              <a:t>✅ Consistency checks</a:t>
            </a:r>
          </a:p>
          <a:p/>
          <a:p>
            <a:pPr>
              <a:defRPr sz="2000" b="1"/>
            </a:pPr>
            <a:r>
              <a:t>Preprocessing:</a:t>
            </a:r>
          </a:p>
          <a:p>
            <a:pPr>
              <a:defRPr sz="1800" b="0"/>
            </a:pPr>
            <a:r>
              <a:t>✅ StandardScaler normalization</a:t>
            </a:r>
          </a:p>
          <a:p>
            <a:pPr>
              <a:defRPr sz="1800" b="0"/>
            </a:pPr>
            <a:r>
              <a:t>✅ Label encoding for categoricals</a:t>
            </a:r>
          </a:p>
          <a:p>
            <a:pPr>
              <a:defRPr sz="1800" b="0"/>
            </a:pPr>
            <a:r>
              <a:t>✅ Train/test stratification</a:t>
            </a:r>
          </a:p>
          <a:p>
            <a:pPr>
              <a:defRPr sz="1800" b="0"/>
            </a:pPr>
            <a:r>
              <a:t>✅ Feature scaling for applicable models</a:t>
            </a:r>
          </a:p>
          <a:p/>
          <a:p>
            <a:pPr>
              <a:defRPr sz="2000" b="1"/>
            </a:pPr>
            <a:r>
              <a:t>Quality Metrics:</a:t>
            </a:r>
          </a:p>
          <a:p>
            <a:pPr>
              <a:defRPr sz="1800" b="0"/>
            </a:pPr>
            <a:r>
              <a:t>✅ No missing values post-imputation</a:t>
            </a:r>
          </a:p>
          <a:p>
            <a:pPr>
              <a:defRPr sz="1800" b="0"/>
            </a:pPr>
            <a:r>
              <a:t>✅ Balanced class distribution</a:t>
            </a:r>
          </a:p>
          <a:p>
            <a:pPr>
              <a:defRPr sz="1800" b="0"/>
            </a:pPr>
            <a:r>
              <a:t>✅ Feature correlation analysis</a:t>
            </a:r>
          </a:p>
          <a:p>
            <a:pPr>
              <a:defRPr sz="1800" b="0"/>
            </a:pPr>
            <a:r>
              <a:t>✅ Multicollinearity checks</a:t>
            </a:r>
          </a:p>
          <a:p/>
          <a:p>
            <a:pPr>
              <a:defRPr sz="2000" b="1"/>
            </a:pPr>
            <a:r>
              <a:t>Result:** High-quality, analysis-ready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Model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Why Interpretability Matters:</a:t>
            </a:r>
          </a:p>
          <a:p/>
          <a:p>
            <a:pPr>
              <a:defRPr sz="2000" b="1"/>
            </a:pPr>
            <a:r>
              <a:t>Clinical Trust:</a:t>
            </a:r>
          </a:p>
          <a:p>
            <a:pPr>
              <a:defRPr sz="1800" b="0"/>
            </a:pPr>
            <a:r>
              <a:t>Physicians need to understand predictions</a:t>
            </a:r>
          </a:p>
          <a:p>
            <a:pPr>
              <a:defRPr sz="1800" b="0"/>
            </a:pPr>
            <a:r>
              <a:t>Black-box models face adoption barriers</a:t>
            </a:r>
          </a:p>
          <a:p>
            <a:pPr>
              <a:defRPr sz="1800" b="0"/>
            </a:pPr>
            <a:r>
              <a:t>Regulatory requirements (FDA, EU MDR)</a:t>
            </a:r>
          </a:p>
          <a:p/>
          <a:p>
            <a:pPr>
              <a:defRPr sz="2000" b="1"/>
            </a:pPr>
            <a:r>
              <a:t>Our Approach:</a:t>
            </a:r>
          </a:p>
          <a:p/>
          <a:p>
            <a:pPr>
              <a:defRPr sz="2000" b="1"/>
            </a:pPr>
            <a:r>
              <a:t>SHAP Values:</a:t>
            </a:r>
          </a:p>
          <a:p>
            <a:pPr>
              <a:defRPr sz="1800" b="0"/>
            </a:pPr>
            <a:r>
              <a:t>Game-theoretic feature attribution</a:t>
            </a:r>
          </a:p>
          <a:p>
            <a:pPr>
              <a:defRPr sz="1800" b="0"/>
            </a:pPr>
            <a:r>
              <a:t>Local and global explanations</a:t>
            </a:r>
          </a:p>
          <a:p>
            <a:pPr>
              <a:defRPr sz="1800" b="0"/>
            </a:pPr>
            <a:r>
              <a:t>Visual interpretability</a:t>
            </a:r>
          </a:p>
          <a:p/>
          <a:p>
            <a:pPr>
              <a:defRPr sz="2000" b="1"/>
            </a:pPr>
            <a:r>
              <a:t>Feature Importance:</a:t>
            </a:r>
          </a:p>
          <a:p>
            <a:pPr>
              <a:defRPr sz="1800" b="0"/>
            </a:pPr>
            <a:r>
              <a:t>XGBoost gain-based ranking</a:t>
            </a:r>
          </a:p>
          <a:p>
            <a:pPr>
              <a:defRPr sz="1800" b="0"/>
            </a:pPr>
            <a:r>
              <a:t>Clinically meaningful features</a:t>
            </a:r>
          </a:p>
          <a:p>
            <a:pPr>
              <a:defRPr sz="1800" b="0"/>
            </a:pPr>
            <a:r>
              <a:t>Validates medical knowledge</a:t>
            </a:r>
          </a:p>
          <a:p/>
          <a:p>
            <a:pPr>
              <a:defRPr sz="2000" b="1"/>
            </a:pPr>
            <a:r>
              <a:t>Result:** Transparent, explainable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Proposed System Design:</a:t>
            </a:r>
          </a:p>
          <a:p/>
          <a:p>
            <a:pPr>
              <a:defRPr sz="1800" b="0"/>
            </a:pPr>
            <a:r>
              <a:t>┌─────────────────┐    ┌──────────────────┐    ┌─────────────────┐</a:t>
            </a:r>
          </a:p>
          <a:p>
            <a:pPr>
              <a:defRPr sz="1800" b="0"/>
            </a:pPr>
            <a:r>
              <a:t>│   EHR System    │    │   Prediction     │    │   Clinician     │</a:t>
            </a:r>
          </a:p>
          <a:p>
            <a:pPr>
              <a:defRPr sz="1800" b="0"/>
            </a:pPr>
            <a:r>
              <a:t>│   (Hospital)    │────│   API Service    │────│   Dashboard     │</a:t>
            </a:r>
          </a:p>
          <a:p>
            <a:pPr>
              <a:defRPr sz="1800" b="0"/>
            </a:pPr>
            <a:r>
              <a:t>│                 │    │   (Python/Flask) │    │   (Web/App)     │</a:t>
            </a:r>
          </a:p>
          <a:p>
            <a:pPr>
              <a:defRPr sz="1800" b="0"/>
            </a:pPr>
            <a:r>
              <a:t>└─────────────────┘    └──────────────────┘    └─────────────────┘</a:t>
            </a:r>
          </a:p>
          <a:p>
            <a:pPr>
              <a:defRPr sz="1800" b="0"/>
            </a:pPr>
            <a:r>
              <a:t>│</a:t>
            </a:r>
          </a:p>
          <a:p>
            <a:pPr>
              <a:defRPr sz="1800" b="0"/>
            </a:pPr>
            <a:r>
              <a:t>┌──────────────────┐</a:t>
            </a:r>
          </a:p>
          <a:p>
            <a:pPr>
              <a:defRPr sz="1800" b="0"/>
            </a:pPr>
            <a:r>
              <a:t>│   Model Server   │</a:t>
            </a:r>
          </a:p>
          <a:p>
            <a:pPr>
              <a:defRPr sz="1800" b="0"/>
            </a:pPr>
            <a:r>
              <a:t>│   (SVM/XGBoost)  │</a:t>
            </a:r>
          </a:p>
          <a:p>
            <a:pPr>
              <a:defRPr sz="1800" b="0"/>
            </a:pPr>
            <a:r>
              <a:t>└──────────────────┘</a:t>
            </a:r>
          </a:p>
          <a:p/>
          <a:p>
            <a:pPr>
              <a:defRPr sz="2000" b="1"/>
            </a:pPr>
            <a:r>
              <a:t>Components:</a:t>
            </a:r>
          </a:p>
          <a:p>
            <a:pPr>
              <a:defRPr sz="1800" b="0"/>
            </a:pPr>
            <a:r>
              <a:t>REST API for predictions</a:t>
            </a:r>
          </a:p>
          <a:p>
            <a:pPr>
              <a:defRPr sz="1800" b="0"/>
            </a:pPr>
            <a:r>
              <a:t>Model versioning and A/B testing</a:t>
            </a:r>
          </a:p>
          <a:p>
            <a:pPr>
              <a:defRPr sz="1800" b="0"/>
            </a:pPr>
            <a:r>
              <a:t>Monitoring and logging</a:t>
            </a:r>
          </a:p>
          <a:p>
            <a:pPr>
              <a:defRPr sz="1800" b="0"/>
            </a:pPr>
            <a:r>
              <a:t>Audit trail for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Our Solution vs Existing Approaches:</a:t>
            </a:r>
          </a:p>
          <a:p/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>
            <a:pPr>
              <a:defRPr sz="1400" i="1"/>
            </a:pPr>
            <a:r>
              <a:t>[Table/Chart - See visualization files]</a:t>
            </a:r>
          </a:p>
          <a:p/>
          <a:p>
            <a:pPr>
              <a:defRPr sz="2000" b="1"/>
            </a:pPr>
            <a:r>
              <a:t>Advantage:** Best-in-class accuracy with full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Research Achievements:</a:t>
            </a:r>
          </a:p>
          <a:p/>
          <a:p>
            <a:pPr>
              <a:defRPr sz="1800" b="0"/>
            </a:pPr>
            <a:r>
              <a:t>✅ Accurate Prediction: 100% accuracy with SVM + XGBoost features</a:t>
            </a:r>
          </a:p>
          <a:p/>
          <a:p>
            <a:pPr>
              <a:defRPr sz="1800" b="0"/>
            </a:pPr>
            <a:r>
              <a:t>✅ Feature Engineering: Reduced 25 → 7 features (72% reduction)</a:t>
            </a:r>
          </a:p>
          <a:p/>
          <a:p>
            <a:pPr>
              <a:defRPr sz="1800" b="0"/>
            </a:pPr>
            <a:r>
              <a:t>✅ Clinical Relevance: All features medically validated</a:t>
            </a:r>
          </a:p>
          <a:p/>
          <a:p>
            <a:pPr>
              <a:defRPr sz="1800" b="0"/>
            </a:pPr>
            <a:r>
              <a:t>✅ Interpretability: SHAP-based explanations</a:t>
            </a:r>
          </a:p>
          <a:p/>
          <a:p>
            <a:pPr>
              <a:defRPr sz="1800" b="0"/>
            </a:pPr>
            <a:r>
              <a:t>✅ Robust Validation: Multiple models, comprehensive metrics</a:t>
            </a:r>
          </a:p>
          <a:p/>
          <a:p>
            <a:pPr>
              <a:defRPr sz="1800" b="0"/>
            </a:pPr>
            <a:r>
              <a:t>✅ Practical Impact: Ready for clinical deployment</a:t>
            </a:r>
          </a:p>
          <a:p/>
          <a:p>
            <a:pPr>
              <a:defRPr sz="2000" b="1"/>
            </a:pPr>
            <a:r>
              <a:t>Final Message:</a:t>
            </a:r>
          </a:p>
          <a:p>
            <a:pPr>
              <a:defRPr sz="1800" b="0"/>
            </a:pPr>
            <a:r>
              <a:t>Machine learning, when properly applied with domain expertise, can revolutionize early disease detection and improve patient outcomes while reducing healthcare costs.</a:t>
            </a:r>
          </a:p>
          <a:p/>
          <a:p>
            <a:pPr>
              <a:defRPr sz="1800" b="0"/>
            </a:pPr>
          </a:p>
          <a:p/>
          <a:p>
            <a:pPr>
              <a:defRPr sz="1800" b="0"/>
            </a:pPr>
            <a:r>
              <a:t>## End of Presentation</a:t>
            </a:r>
          </a:p>
          <a:p/>
          <a:p>
            <a:pPr>
              <a:defRPr sz="2000" b="1"/>
            </a:pPr>
            <a:r>
              <a:t>Backup Slides Available:</a:t>
            </a:r>
          </a:p>
          <a:p>
            <a:pPr>
              <a:defRPr sz="1800" b="0"/>
            </a:pPr>
            <a:r>
              <a:t>Detailed mathematical derivations</a:t>
            </a:r>
          </a:p>
          <a:p>
            <a:pPr>
              <a:defRPr sz="1800" b="0"/>
            </a:pPr>
            <a:r>
              <a:t>Extended literature review</a:t>
            </a:r>
          </a:p>
          <a:p>
            <a:pPr>
              <a:defRPr sz="1800" b="0"/>
            </a:pPr>
            <a:r>
              <a:t>Additional experiments</a:t>
            </a:r>
          </a:p>
          <a:p>
            <a:pPr>
              <a:defRPr sz="1800" b="0"/>
            </a:pPr>
            <a:r>
              <a:t>Sensitivity analyses</a:t>
            </a:r>
          </a:p>
          <a:p>
            <a:pPr>
              <a:defRPr sz="1800" b="0"/>
            </a:pPr>
            <a:r>
              <a:t>Alternative model comparisons</a:t>
            </a:r>
          </a:p>
          <a:p/>
          <a:p>
            <a:pPr>
              <a:defRPr sz="2000" b="1"/>
            </a:pPr>
            <a:r>
              <a:t>Contact:** Research team institutional emails</a:t>
            </a:r>
          </a:p>
          <a:p>
            <a:pPr>
              <a:defRPr sz="2000" b="1"/>
            </a:pPr>
            <a:r>
              <a:t>Code:** Available in repository</a:t>
            </a:r>
          </a:p>
          <a:p>
            <a:pPr>
              <a:defRPr sz="2000" b="1"/>
            </a:pPr>
            <a:r>
              <a:t>Data:** UCI ML Repository (public access)</a:t>
            </a:r>
          </a:p>
          <a:p/>
          <a:p>
            <a:pPr>
              <a:defRPr sz="2000" b="1"/>
            </a:pPr>
          </a:p>
          <a:p/>
          <a:p>
            <a:pPr>
              <a:defRPr sz="1800" b="0"/>
            </a:pPr>
            <a:r>
              <a:t>*This presentation is based on research published in Human-Centric Intelligent Systems (2023)*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